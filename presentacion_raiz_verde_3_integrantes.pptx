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diciendo: “Buenos días, presentamos Raíz Verde, una tienda web de vivero urbano desarrollada con HTML5, CSS3 y JavaScript puro. La exposición se divide entre 3 integrantes: marca y estructura, catálogo dinámico, y carrito con formulario.”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la división: el primer integrante presenta negocio y frontend visual; el segundo demuestra datos, catálogo y vista detalle; el tercero demuestra carrito, persistencia y formulario. Todos deben conocer el flujo completo para responder preguntas.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diapositiva resume el cumplimiento del PA. Recalcar que se usó JavaScript puro y que el catálogo no está escrito estáticamente en el HTML, sino generado desde datos.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Integrante 1: explicar que el rubro elegido es vivero urbano, con identidad verde y terracota. Mostrar en el navegador la página inicial y mencionar las etiquetas semánticas: header, nav, main, section, article y footer.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Integrante 1: mostrar estilos.css. Explicar que las variables hacen que la identidad visual sea coherente. Luego demostrar en DevTools que el sitio se adapta en tablet y móvil.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Integrante 2: abrir productos.js y explicar el array de objetos. Resaltar que el PA pedía mínimo 6 productos con 4 propiedades, y el proyecto tiene 9 productos con id, nombre, precio, imagen, categoría y descripción.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Integrante 2: en la demo, entrar al catálogo, escribir una palabra en la búsqueda, cambiar categoría, abrir un producto y agregarlo al carrito desde detalle.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Integrante 3: explicar localStorage como memoria del navegador. En la demo, agregar productos, ir al carrito, modificar cantidades, recargar la página y mostrar que no se pierde.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Integrante 3: mostrar el formulario de contacto/pre-checkout. Forzar errores: nombre vacío, email malo o teléfono con menos de 9 dígitos. Luego corregir y mostrar mensaje de éxito.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Cierre: recordar que todos deben saber explicar cualquier fragmento. Antes de exponer, probar en Chrome y Edge/Firefox, revisar consola sin errores y confirmar que la URL de GitHub Pages abre correctamente.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1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1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5A38"/>
          </a:solidFill>
          <a:ln w="12700">
            <a:solidFill>
              <a:srgbClr val="1F5A38"/>
            </a:solidFill>
            <a:prstDash val="solid"/>
          </a:ln>
        </p:spPr>
      </p:sp>
      <p:pic>
        <p:nvPicPr>
          <p:cNvPr id="3" name="Image 0" descr="/mnt/data/plant_imgs/monstera.png">    </p:cNvPr>
          <p:cNvPicPr>
            <a:picLocks noChangeAspect="1"/>
          </p:cNvPicPr>
          <p:nvPr/>
        </p:nvPicPr>
        <p:blipFill>
          <a:blip r:embed="rId1">
            <a:alphaModFix amt="97000"/>
          </a:blip>
          <a:stretch>
            <a:fillRect/>
          </a:stretch>
        </p:blipFill>
        <p:spPr>
          <a:xfrm>
            <a:off x="7772400" y="960120"/>
            <a:ext cx="3383280" cy="3383280"/>
          </a:xfrm>
          <a:prstGeom prst="rect">
            <a:avLst/>
          </a:prstGeom>
        </p:spPr>
      </p:pic>
      <p:pic>
        <p:nvPicPr>
          <p:cNvPr id="4" name="Image 1" descr="/mnt/data/plant_img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731520"/>
            <a:ext cx="1051560" cy="10515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31520" y="196596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Raíz Verde</a:t>
            </a:r>
            <a:endParaRPr lang="en-US" sz="4800" dirty="0"/>
          </a:p>
        </p:txBody>
      </p:sp>
      <p:sp>
        <p:nvSpPr>
          <p:cNvPr id="6" name="Text 2"/>
          <p:cNvSpPr/>
          <p:nvPr/>
        </p:nvSpPr>
        <p:spPr>
          <a:xfrm>
            <a:off x="777240" y="2670048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CEFE2"/>
                </a:solidFill>
              </a:rPr>
              <a:t>Vivero urbano · Comercio electrónico al 30%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777240" y="324612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Presentación para 3 integrantes · Diseño Web C2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777240" y="3886200"/>
            <a:ext cx="1005840" cy="320040"/>
          </a:xfrm>
          <a:prstGeom prst="roundRect">
            <a:avLst>
              <a:gd name="adj" fmla="val 25714"/>
            </a:avLst>
          </a:prstGeom>
          <a:solidFill>
            <a:srgbClr val="C0743E"/>
          </a:solidFill>
          <a:ln w="12700">
            <a:solidFill>
              <a:srgbClr val="C0743E">
                <a:alpha val="0"/>
              </a:srgbClr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850392" y="3959352"/>
            <a:ext cx="8595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</a:rPr>
              <a:t>HTML5</a:t>
            </a:r>
            <a:endParaRPr lang="en-US" sz="860" dirty="0"/>
          </a:p>
        </p:txBody>
      </p:sp>
      <p:sp>
        <p:nvSpPr>
          <p:cNvPr id="10" name="Shape 6"/>
          <p:cNvSpPr/>
          <p:nvPr/>
        </p:nvSpPr>
        <p:spPr>
          <a:xfrm>
            <a:off x="1920240" y="3886200"/>
            <a:ext cx="914400" cy="320040"/>
          </a:xfrm>
          <a:prstGeom prst="roundRect">
            <a:avLst>
              <a:gd name="adj" fmla="val 25714"/>
            </a:avLst>
          </a:prstGeom>
          <a:solidFill>
            <a:srgbClr val="C0743E"/>
          </a:solidFill>
          <a:ln w="12700">
            <a:solidFill>
              <a:srgbClr val="C0743E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1993392" y="3959352"/>
            <a:ext cx="7680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</a:rPr>
              <a:t>CSS3</a:t>
            </a:r>
            <a:endParaRPr lang="en-US" sz="860" dirty="0"/>
          </a:p>
        </p:txBody>
      </p:sp>
      <p:sp>
        <p:nvSpPr>
          <p:cNvPr id="12" name="Shape 8"/>
          <p:cNvSpPr/>
          <p:nvPr/>
        </p:nvSpPr>
        <p:spPr>
          <a:xfrm>
            <a:off x="2971800" y="3886200"/>
            <a:ext cx="1600200" cy="320040"/>
          </a:xfrm>
          <a:prstGeom prst="roundRect">
            <a:avLst>
              <a:gd name="adj" fmla="val 25714"/>
            </a:avLst>
          </a:prstGeom>
          <a:solidFill>
            <a:srgbClr val="C0743E"/>
          </a:solidFill>
          <a:ln w="12700">
            <a:solidFill>
              <a:srgbClr val="C0743E">
                <a:alpha val="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044952" y="3959352"/>
            <a:ext cx="14538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</a:rPr>
              <a:t>JavaScript puro</a:t>
            </a:r>
            <a:endParaRPr lang="en-US" sz="860" dirty="0"/>
          </a:p>
        </p:txBody>
      </p:sp>
      <p:sp>
        <p:nvSpPr>
          <p:cNvPr id="14" name="Shape 10"/>
          <p:cNvSpPr/>
          <p:nvPr/>
        </p:nvSpPr>
        <p:spPr>
          <a:xfrm>
            <a:off x="4736592" y="3886200"/>
            <a:ext cx="1051560" cy="320040"/>
          </a:xfrm>
          <a:prstGeom prst="roundRect">
            <a:avLst>
              <a:gd name="adj" fmla="val 25714"/>
            </a:avLst>
          </a:prstGeom>
          <a:solidFill>
            <a:srgbClr val="C0743E"/>
          </a:solidFill>
          <a:ln w="12700">
            <a:solidFill>
              <a:srgbClr val="C0743E">
                <a:alpha val="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809744" y="3959352"/>
            <a:ext cx="90525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</a:rPr>
              <a:t>Carrito</a:t>
            </a:r>
            <a:endParaRPr lang="en-US" sz="860" dirty="0"/>
          </a:p>
        </p:txBody>
      </p:sp>
      <p:sp>
        <p:nvSpPr>
          <p:cNvPr id="16" name="Text 12"/>
          <p:cNvSpPr/>
          <p:nvPr/>
        </p:nvSpPr>
        <p:spPr>
          <a:xfrm>
            <a:off x="777240" y="6080760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FE0C4"/>
                </a:solidFill>
              </a:rPr>
              <a:t>Repositorio: github.com/74048030-dotcom/conlidado2_dise-o_web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79552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F5A38"/>
                </a:solidFill>
              </a:rPr>
              <a:t>Ruta de exposición por integrante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D6B62"/>
                </a:solidFill>
              </a:rPr>
              <a:t>Cada integrante muestra una parte concreta del repositorio y de la demo.</a:t>
            </a:r>
            <a:endParaRPr lang="en-US" sz="1350" dirty="0"/>
          </a:p>
        </p:txBody>
      </p:sp>
      <p:pic>
        <p:nvPicPr>
          <p:cNvPr id="4" name="Image 0" descr="/mnt/data/plant_img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5912" y="320040"/>
            <a:ext cx="566928" cy="566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1520" y="1463040"/>
            <a:ext cx="2834640" cy="402336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DE8DC"/>
            </a:solidFill>
            <a:prstDash val="solid"/>
          </a:ln>
          <a:effectLst>
            <a:outerShdw sx="100000" sy="100000" kx="0" ky="0" algn="bl" rotWithShape="0" blurRad="25400" dist="50800" dir="2700000">
              <a:srgbClr val="BDD2C0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051560" y="1783080"/>
            <a:ext cx="1371600" cy="320040"/>
          </a:xfrm>
          <a:prstGeom prst="roundRect">
            <a:avLst>
              <a:gd name="adj" fmla="val 25714"/>
            </a:avLst>
          </a:prstGeom>
          <a:solidFill>
            <a:srgbClr val="2F7D4F"/>
          </a:solidFill>
          <a:ln w="12700">
            <a:solidFill>
              <a:srgbClr val="2F7D4F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24712" y="1856232"/>
            <a:ext cx="12252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</a:rPr>
              <a:t>Integrante 1</a:t>
            </a:r>
            <a:endParaRPr lang="en-US" sz="860" dirty="0"/>
          </a:p>
        </p:txBody>
      </p:sp>
      <p:sp>
        <p:nvSpPr>
          <p:cNvPr id="8" name="Text 5"/>
          <p:cNvSpPr/>
          <p:nvPr/>
        </p:nvSpPr>
        <p:spPr>
          <a:xfrm>
            <a:off x="1051560" y="23317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5A38"/>
                </a:solidFill>
              </a:rPr>
              <a:t>Marca, HTML y CSS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1078992" y="2971800"/>
            <a:ext cx="91440" cy="91440"/>
          </a:xfrm>
          <a:prstGeom prst="ellipse">
            <a:avLst/>
          </a:prstGeom>
          <a:solidFill>
            <a:srgbClr val="C0743E"/>
          </a:solidFill>
          <a:ln w="12700">
            <a:solidFill>
              <a:srgbClr val="C0743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280160" y="288036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2302A"/>
                </a:solidFill>
              </a:rPr>
              <a:t>Identidad visual de Raíz Verde</a:t>
            </a:r>
            <a:endParaRPr lang="en-US" sz="1220" dirty="0"/>
          </a:p>
        </p:txBody>
      </p:sp>
      <p:sp>
        <p:nvSpPr>
          <p:cNvPr id="11" name="Shape 8"/>
          <p:cNvSpPr/>
          <p:nvPr/>
        </p:nvSpPr>
        <p:spPr>
          <a:xfrm>
            <a:off x="1078992" y="3474720"/>
            <a:ext cx="91440" cy="91440"/>
          </a:xfrm>
          <a:prstGeom prst="ellipse">
            <a:avLst/>
          </a:prstGeom>
          <a:solidFill>
            <a:srgbClr val="C0743E"/>
          </a:solidFill>
          <a:ln w="12700">
            <a:solidFill>
              <a:srgbClr val="C0743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80160" y="338328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2302A"/>
                </a:solidFill>
              </a:rPr>
              <a:t>Estructura HTML semántica</a:t>
            </a:r>
            <a:endParaRPr lang="en-US" sz="1220" dirty="0"/>
          </a:p>
        </p:txBody>
      </p:sp>
      <p:sp>
        <p:nvSpPr>
          <p:cNvPr id="13" name="Shape 10"/>
          <p:cNvSpPr/>
          <p:nvPr/>
        </p:nvSpPr>
        <p:spPr>
          <a:xfrm>
            <a:off x="1078992" y="3977640"/>
            <a:ext cx="91440" cy="91440"/>
          </a:xfrm>
          <a:prstGeom prst="ellipse">
            <a:avLst/>
          </a:prstGeom>
          <a:solidFill>
            <a:srgbClr val="C0743E"/>
          </a:solidFill>
          <a:ln w="12700">
            <a:solidFill>
              <a:srgbClr val="C0743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280160" y="388620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2302A"/>
                </a:solidFill>
              </a:rPr>
              <a:t>Variables CSS, Grid/Flexbox y responsive</a:t>
            </a:r>
            <a:endParaRPr lang="en-US" sz="1220" dirty="0"/>
          </a:p>
        </p:txBody>
      </p:sp>
      <p:sp>
        <p:nvSpPr>
          <p:cNvPr id="15" name="Text 12"/>
          <p:cNvSpPr/>
          <p:nvPr/>
        </p:nvSpPr>
        <p:spPr>
          <a:xfrm>
            <a:off x="1051560" y="489204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B62"/>
                </a:solidFill>
              </a:rPr>
              <a:t>4 min aprox.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251960" y="1463040"/>
            <a:ext cx="2834640" cy="402336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DE8DC"/>
            </a:solidFill>
            <a:prstDash val="solid"/>
          </a:ln>
          <a:effectLst>
            <a:outerShdw sx="100000" sy="100000" kx="0" ky="0" algn="bl" rotWithShape="0" blurRad="25400" dist="50800" dir="2700000">
              <a:srgbClr val="BDD2C0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572000" y="1783080"/>
            <a:ext cx="1371600" cy="320040"/>
          </a:xfrm>
          <a:prstGeom prst="roundRect">
            <a:avLst>
              <a:gd name="adj" fmla="val 25714"/>
            </a:avLst>
          </a:prstGeom>
          <a:solidFill>
            <a:srgbClr val="C0743E"/>
          </a:solidFill>
          <a:ln w="12700">
            <a:solidFill>
              <a:srgbClr val="C0743E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645152" y="1856232"/>
            <a:ext cx="12252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</a:rPr>
              <a:t>Integrante 2</a:t>
            </a:r>
            <a:endParaRPr lang="en-US" sz="860" dirty="0"/>
          </a:p>
        </p:txBody>
      </p:sp>
      <p:sp>
        <p:nvSpPr>
          <p:cNvPr id="19" name="Text 16"/>
          <p:cNvSpPr/>
          <p:nvPr/>
        </p:nvSpPr>
        <p:spPr>
          <a:xfrm>
            <a:off x="4572000" y="23317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5A38"/>
                </a:solidFill>
              </a:rPr>
              <a:t>Catálogo y detalle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4599432" y="2971800"/>
            <a:ext cx="91440" cy="91440"/>
          </a:xfrm>
          <a:prstGeom prst="ellipse">
            <a:avLst/>
          </a:prstGeom>
          <a:solidFill>
            <a:srgbClr val="C0743E"/>
          </a:solidFill>
          <a:ln w="12700">
            <a:solidFill>
              <a:srgbClr val="C0743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800600" y="288036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2302A"/>
                </a:solidFill>
              </a:rPr>
              <a:t>Array de productos en productos.js</a:t>
            </a:r>
            <a:endParaRPr lang="en-US" sz="1220" dirty="0"/>
          </a:p>
        </p:txBody>
      </p:sp>
      <p:sp>
        <p:nvSpPr>
          <p:cNvPr id="22" name="Shape 19"/>
          <p:cNvSpPr/>
          <p:nvPr/>
        </p:nvSpPr>
        <p:spPr>
          <a:xfrm>
            <a:off x="4599432" y="3474720"/>
            <a:ext cx="91440" cy="91440"/>
          </a:xfrm>
          <a:prstGeom prst="ellipse">
            <a:avLst/>
          </a:prstGeom>
          <a:solidFill>
            <a:srgbClr val="C0743E"/>
          </a:solidFill>
          <a:ln w="12700">
            <a:solidFill>
              <a:srgbClr val="C0743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800600" y="338328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2302A"/>
                </a:solidFill>
              </a:rPr>
              <a:t>Render dinámico y filtros</a:t>
            </a:r>
            <a:endParaRPr lang="en-US" sz="1220" dirty="0"/>
          </a:p>
        </p:txBody>
      </p:sp>
      <p:sp>
        <p:nvSpPr>
          <p:cNvPr id="24" name="Shape 21"/>
          <p:cNvSpPr/>
          <p:nvPr/>
        </p:nvSpPr>
        <p:spPr>
          <a:xfrm>
            <a:off x="4599432" y="3977640"/>
            <a:ext cx="91440" cy="91440"/>
          </a:xfrm>
          <a:prstGeom prst="ellipse">
            <a:avLst/>
          </a:prstGeom>
          <a:solidFill>
            <a:srgbClr val="C0743E"/>
          </a:solidFill>
          <a:ln w="12700">
            <a:solidFill>
              <a:srgbClr val="C0743E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800600" y="388620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2302A"/>
                </a:solidFill>
              </a:rPr>
              <a:t>Vista de detalle con parámetro id</a:t>
            </a:r>
            <a:endParaRPr lang="en-US" sz="1220" dirty="0"/>
          </a:p>
        </p:txBody>
      </p:sp>
      <p:sp>
        <p:nvSpPr>
          <p:cNvPr id="26" name="Text 23"/>
          <p:cNvSpPr/>
          <p:nvPr/>
        </p:nvSpPr>
        <p:spPr>
          <a:xfrm>
            <a:off x="4572000" y="489204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B62"/>
                </a:solidFill>
              </a:rPr>
              <a:t>5 min aprox.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7772400" y="1463040"/>
            <a:ext cx="2834640" cy="402336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DE8DC"/>
            </a:solidFill>
            <a:prstDash val="solid"/>
          </a:ln>
          <a:effectLst>
            <a:outerShdw sx="100000" sy="100000" kx="0" ky="0" algn="bl" rotWithShape="0" blurRad="25400" dist="50800" dir="2700000">
              <a:srgbClr val="BDD2C0">
                <a:alpha val="18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8092440" y="1783080"/>
            <a:ext cx="1371600" cy="320040"/>
          </a:xfrm>
          <a:prstGeom prst="roundRect">
            <a:avLst>
              <a:gd name="adj" fmla="val 25714"/>
            </a:avLst>
          </a:prstGeom>
          <a:solidFill>
            <a:srgbClr val="8E6FC4"/>
          </a:solidFill>
          <a:ln w="12700">
            <a:solidFill>
              <a:srgbClr val="8E6FC4">
                <a:alpha val="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165592" y="1856232"/>
            <a:ext cx="12252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</a:rPr>
              <a:t>Integrante 3</a:t>
            </a:r>
            <a:endParaRPr lang="en-US" sz="860" dirty="0"/>
          </a:p>
        </p:txBody>
      </p:sp>
      <p:sp>
        <p:nvSpPr>
          <p:cNvPr id="30" name="Text 27"/>
          <p:cNvSpPr/>
          <p:nvPr/>
        </p:nvSpPr>
        <p:spPr>
          <a:xfrm>
            <a:off x="8092440" y="23317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5A38"/>
                </a:solidFill>
              </a:rPr>
              <a:t>Carrito y formulario</a:t>
            </a:r>
            <a:endParaRPr lang="en-US" sz="1800" dirty="0"/>
          </a:p>
        </p:txBody>
      </p:sp>
      <p:sp>
        <p:nvSpPr>
          <p:cNvPr id="31" name="Shape 28"/>
          <p:cNvSpPr/>
          <p:nvPr/>
        </p:nvSpPr>
        <p:spPr>
          <a:xfrm>
            <a:off x="8119872" y="2971800"/>
            <a:ext cx="91440" cy="91440"/>
          </a:xfrm>
          <a:prstGeom prst="ellipse">
            <a:avLst/>
          </a:prstGeom>
          <a:solidFill>
            <a:srgbClr val="C0743E"/>
          </a:solidFill>
          <a:ln w="12700">
            <a:solidFill>
              <a:srgbClr val="C0743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321040" y="288036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2302A"/>
                </a:solidFill>
              </a:rPr>
              <a:t>localStorage para persistencia</a:t>
            </a:r>
            <a:endParaRPr lang="en-US" sz="1220" dirty="0"/>
          </a:p>
        </p:txBody>
      </p:sp>
      <p:sp>
        <p:nvSpPr>
          <p:cNvPr id="33" name="Shape 30"/>
          <p:cNvSpPr/>
          <p:nvPr/>
        </p:nvSpPr>
        <p:spPr>
          <a:xfrm>
            <a:off x="8119872" y="3474720"/>
            <a:ext cx="91440" cy="91440"/>
          </a:xfrm>
          <a:prstGeom prst="ellipse">
            <a:avLst/>
          </a:prstGeom>
          <a:solidFill>
            <a:srgbClr val="C0743E"/>
          </a:solidFill>
          <a:ln w="12700">
            <a:solidFill>
              <a:srgbClr val="C0743E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321040" y="338328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2302A"/>
                </a:solidFill>
              </a:rPr>
              <a:t>Agregar, eliminar y cambiar cantidad</a:t>
            </a:r>
            <a:endParaRPr lang="en-US" sz="1220" dirty="0"/>
          </a:p>
        </p:txBody>
      </p:sp>
      <p:sp>
        <p:nvSpPr>
          <p:cNvPr id="35" name="Shape 32"/>
          <p:cNvSpPr/>
          <p:nvPr/>
        </p:nvSpPr>
        <p:spPr>
          <a:xfrm>
            <a:off x="8119872" y="3977640"/>
            <a:ext cx="91440" cy="91440"/>
          </a:xfrm>
          <a:prstGeom prst="ellipse">
            <a:avLst/>
          </a:prstGeom>
          <a:solidFill>
            <a:srgbClr val="C0743E"/>
          </a:solidFill>
          <a:ln w="12700">
            <a:solidFill>
              <a:srgbClr val="C0743E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321040" y="388620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2302A"/>
                </a:solidFill>
              </a:rPr>
              <a:t>Validación JS del pre-checkout</a:t>
            </a:r>
            <a:endParaRPr lang="en-US" sz="1220" dirty="0"/>
          </a:p>
        </p:txBody>
      </p:sp>
      <p:sp>
        <p:nvSpPr>
          <p:cNvPr id="37" name="Text 34"/>
          <p:cNvSpPr/>
          <p:nvPr/>
        </p:nvSpPr>
        <p:spPr>
          <a:xfrm>
            <a:off x="8092440" y="489204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B62"/>
                </a:solidFill>
              </a:rPr>
              <a:t>6 min aprox.</a:t>
            </a:r>
            <a:endParaRPr lang="en-US" sz="1150" dirty="0"/>
          </a:p>
        </p:txBody>
      </p:sp>
      <p:sp>
        <p:nvSpPr>
          <p:cNvPr id="38" name="Text 35"/>
          <p:cNvSpPr/>
          <p:nvPr/>
        </p:nvSpPr>
        <p:spPr>
          <a:xfrm>
            <a:off x="548640" y="6446520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6B62"/>
                </a:solidFill>
              </a:rPr>
              <a:t>Raíz Verde · Diseño Web C2 · Primer avance 30%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11155680" y="638251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F5A38"/>
                </a:solidFill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79552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F5A38"/>
                </a:solidFill>
              </a:rPr>
              <a:t>Checklist del PA: cómo responde el proyecto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D6B62"/>
                </a:solidFill>
              </a:rPr>
              <a:t>El avance cumple los requisitos principales del C2: e-commerce al 30%.</a:t>
            </a:r>
            <a:endParaRPr lang="en-US" sz="1350" dirty="0"/>
          </a:p>
        </p:txBody>
      </p:sp>
      <p:pic>
        <p:nvPicPr>
          <p:cNvPr id="4" name="Image 0" descr="/mnt/data/plant_img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5912" y="320040"/>
            <a:ext cx="566928" cy="566928"/>
          </a:xfrm>
          <a:prstGeom prst="rect">
            <a:avLst/>
          </a:prstGeom>
        </p:spPr>
      </p:pic>
      <p:pic>
        <p:nvPicPr>
          <p:cNvPr id="5" name="Image 1" descr="/mnt/data/plant_imgs/sansevieri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1371600"/>
            <a:ext cx="1371600" cy="1371600"/>
          </a:xfrm>
          <a:prstGeom prst="rect">
            <a:avLst/>
          </a:prstGeom>
        </p:spPr>
      </p:pic>
      <p:pic>
        <p:nvPicPr>
          <p:cNvPr id="6" name="Image 2" descr="/mnt/data/plant_imgs/cactu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4434840"/>
            <a:ext cx="1097280" cy="109728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777240" y="1527048"/>
            <a:ext cx="310896" cy="310896"/>
          </a:xfrm>
          <a:prstGeom prst="ellipse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8" name="Text 3"/>
          <p:cNvSpPr/>
          <p:nvPr/>
        </p:nvSpPr>
        <p:spPr>
          <a:xfrm>
            <a:off x="832104" y="155905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9" name="Text 4"/>
          <p:cNvSpPr/>
          <p:nvPr/>
        </p:nvSpPr>
        <p:spPr>
          <a:xfrm>
            <a:off x="1234440" y="15087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5A38"/>
                </a:solidFill>
              </a:rPr>
              <a:t>Home con identidad</a:t>
            </a:r>
            <a:endParaRPr lang="en-US" sz="1450" dirty="0"/>
          </a:p>
        </p:txBody>
      </p:sp>
      <p:sp>
        <p:nvSpPr>
          <p:cNvPr id="10" name="Text 5"/>
          <p:cNvSpPr/>
          <p:nvPr/>
        </p:nvSpPr>
        <p:spPr>
          <a:xfrm>
            <a:off x="3703320" y="15087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2302A"/>
                </a:solidFill>
              </a:rPr>
              <a:t>Marca, banner, propuesta de valor y destacados dinámicos.</a:t>
            </a:r>
            <a:endParaRPr lang="en-US" sz="1300" dirty="0"/>
          </a:p>
        </p:txBody>
      </p:sp>
      <p:sp>
        <p:nvSpPr>
          <p:cNvPr id="11" name="Shape 6"/>
          <p:cNvSpPr/>
          <p:nvPr/>
        </p:nvSpPr>
        <p:spPr>
          <a:xfrm>
            <a:off x="777240" y="2185416"/>
            <a:ext cx="310896" cy="310896"/>
          </a:xfrm>
          <a:prstGeom prst="ellipse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832104" y="221742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1234440" y="21671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5A38"/>
                </a:solidFill>
              </a:rPr>
              <a:t>Catálogo dinámico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3703320" y="216712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2302A"/>
                </a:solidFill>
              </a:rPr>
              <a:t>9 productos desde un array de objetos en JavaScript.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777240" y="2843784"/>
            <a:ext cx="310896" cy="310896"/>
          </a:xfrm>
          <a:prstGeom prst="ellipse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832104" y="2875788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1234440" y="282549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5A38"/>
                </a:solidFill>
              </a:rPr>
              <a:t>Detalle de producto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3703320" y="2825496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2302A"/>
                </a:solidFill>
              </a:rPr>
              <a:t>Página detalle.html carga un producto por id de la URL.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777240" y="3502152"/>
            <a:ext cx="310896" cy="310896"/>
          </a:xfrm>
          <a:prstGeom prst="ellipse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832104" y="3534156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1234440" y="348386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5A38"/>
                </a:solidFill>
              </a:rPr>
              <a:t>Carrito funcional</a:t>
            </a:r>
            <a:endParaRPr lang="en-US" sz="1450" dirty="0"/>
          </a:p>
        </p:txBody>
      </p:sp>
      <p:sp>
        <p:nvSpPr>
          <p:cNvPr id="22" name="Text 17"/>
          <p:cNvSpPr/>
          <p:nvPr/>
        </p:nvSpPr>
        <p:spPr>
          <a:xfrm>
            <a:off x="3703320" y="3483864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2302A"/>
                </a:solidFill>
              </a:rPr>
              <a:t>Agregar, eliminar, actualizar cantidad y total en tiempo real.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777240" y="4160520"/>
            <a:ext cx="310896" cy="310896"/>
          </a:xfrm>
          <a:prstGeom prst="ellipse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832104" y="419252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1234440" y="41422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5A38"/>
                </a:solidFill>
              </a:rPr>
              <a:t>Persistencia</a:t>
            </a:r>
            <a:endParaRPr lang="en-US" sz="1450" dirty="0"/>
          </a:p>
        </p:txBody>
      </p:sp>
      <p:sp>
        <p:nvSpPr>
          <p:cNvPr id="26" name="Text 21"/>
          <p:cNvSpPr/>
          <p:nvPr/>
        </p:nvSpPr>
        <p:spPr>
          <a:xfrm>
            <a:off x="3703320" y="414223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2302A"/>
                </a:solidFill>
              </a:rPr>
              <a:t>localStorage mantiene el carrito al navegar o recargar.</a:t>
            </a:r>
            <a:endParaRPr lang="en-US" sz="1300" dirty="0"/>
          </a:p>
        </p:txBody>
      </p:sp>
      <p:sp>
        <p:nvSpPr>
          <p:cNvPr id="27" name="Shape 22"/>
          <p:cNvSpPr/>
          <p:nvPr/>
        </p:nvSpPr>
        <p:spPr>
          <a:xfrm>
            <a:off x="777240" y="4818888"/>
            <a:ext cx="310896" cy="310896"/>
          </a:xfrm>
          <a:prstGeom prst="ellipse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832104" y="485089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1234440" y="4800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5A38"/>
                </a:solidFill>
              </a:rPr>
              <a:t>Formulario validado</a:t>
            </a:r>
            <a:endParaRPr lang="en-US" sz="1450" dirty="0"/>
          </a:p>
        </p:txBody>
      </p:sp>
      <p:sp>
        <p:nvSpPr>
          <p:cNvPr id="30" name="Text 25"/>
          <p:cNvSpPr/>
          <p:nvPr/>
        </p:nvSpPr>
        <p:spPr>
          <a:xfrm>
            <a:off x="3703320" y="48006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2302A"/>
                </a:solidFill>
              </a:rPr>
              <a:t>Validación JS con mensajes y retroalimentación visual.</a:t>
            </a:r>
            <a:endParaRPr lang="en-US" sz="1300" dirty="0"/>
          </a:p>
        </p:txBody>
      </p:sp>
      <p:sp>
        <p:nvSpPr>
          <p:cNvPr id="31" name="Shape 26"/>
          <p:cNvSpPr/>
          <p:nvPr/>
        </p:nvSpPr>
        <p:spPr>
          <a:xfrm>
            <a:off x="777240" y="5559552"/>
            <a:ext cx="9509760" cy="502920"/>
          </a:xfrm>
          <a:prstGeom prst="roundRect">
            <a:avLst>
              <a:gd name="adj" fmla="val 14545"/>
            </a:avLst>
          </a:prstGeom>
          <a:solidFill>
            <a:srgbClr val="E7F2EA"/>
          </a:solidFill>
          <a:ln w="12700">
            <a:solidFill>
              <a:srgbClr val="E7F2EA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1005840" y="5715000"/>
            <a:ext cx="8961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F5A38"/>
                </a:solidFill>
              </a:rPr>
              <a:t>Mensaje clave: el proyecto no usa frameworks; se basa en HTML5, CSS3 y JavaScript puro.</a:t>
            </a:r>
            <a:endParaRPr lang="en-US" sz="1240" dirty="0"/>
          </a:p>
        </p:txBody>
      </p:sp>
      <p:sp>
        <p:nvSpPr>
          <p:cNvPr id="33" name="Text 28"/>
          <p:cNvSpPr/>
          <p:nvPr/>
        </p:nvSpPr>
        <p:spPr>
          <a:xfrm>
            <a:off x="548640" y="6446520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6B62"/>
                </a:solidFill>
              </a:rPr>
              <a:t>Raíz Verde · Diseño Web C2 · Primer avance 30%</a:t>
            </a:r>
            <a:endParaRPr lang="en-US" sz="850" dirty="0"/>
          </a:p>
        </p:txBody>
      </p:sp>
      <p:sp>
        <p:nvSpPr>
          <p:cNvPr id="34" name="Text 29"/>
          <p:cNvSpPr/>
          <p:nvPr/>
        </p:nvSpPr>
        <p:spPr>
          <a:xfrm>
            <a:off x="11155680" y="638251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F5A38"/>
                </a:solidFill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79552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F5A38"/>
                </a:solidFill>
              </a:rPr>
              <a:t>Integrante 1: marca y estructura HTML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D6B62"/>
                </a:solidFill>
              </a:rPr>
              <a:t>Raíz Verde tiene identidad visual propia y páginas organizadas.</a:t>
            </a:r>
            <a:endParaRPr lang="en-US" sz="1350" dirty="0"/>
          </a:p>
        </p:txBody>
      </p:sp>
      <p:pic>
        <p:nvPicPr>
          <p:cNvPr id="4" name="Image 0" descr="/mnt/data/plant_img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5912" y="320040"/>
            <a:ext cx="566928" cy="566928"/>
          </a:xfrm>
          <a:prstGeom prst="rect">
            <a:avLst/>
          </a:prstGeom>
        </p:spPr>
      </p:pic>
      <p:pic>
        <p:nvPicPr>
          <p:cNvPr id="5" name="Image 1" descr="/mnt/data/plant_img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17320"/>
            <a:ext cx="1051560" cy="1051560"/>
          </a:xfrm>
          <a:prstGeom prst="rect">
            <a:avLst/>
          </a:prstGeom>
        </p:spPr>
      </p:pic>
      <p:pic>
        <p:nvPicPr>
          <p:cNvPr id="6" name="Image 2" descr="/mnt/data/plant_imgs/monster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1160" y="1261872"/>
            <a:ext cx="1234440" cy="1234440"/>
          </a:xfrm>
          <a:prstGeom prst="rect">
            <a:avLst/>
          </a:prstGeom>
        </p:spPr>
      </p:pic>
      <p:pic>
        <p:nvPicPr>
          <p:cNvPr id="7" name="Image 3" descr="/mnt/data/plant_imgs/lavand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5560" y="4389120"/>
            <a:ext cx="1143000" cy="1143000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2057400" y="148132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5A38"/>
                </a:solidFill>
              </a:rPr>
              <a:t>Negocio: vivero urbano</a:t>
            </a:r>
            <a:endParaRPr lang="en-US" sz="2300" dirty="0"/>
          </a:p>
        </p:txBody>
      </p:sp>
      <p:sp>
        <p:nvSpPr>
          <p:cNvPr id="9" name="Text 3"/>
          <p:cNvSpPr/>
          <p:nvPr/>
        </p:nvSpPr>
        <p:spPr>
          <a:xfrm>
            <a:off x="2057400" y="19202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D6B62"/>
                </a:solidFill>
              </a:rPr>
              <a:t>Productos: plantas de interior, suculentas y accesorios con entrega a domicilio.</a:t>
            </a:r>
            <a:endParaRPr lang="en-US" sz="1350" dirty="0"/>
          </a:p>
        </p:txBody>
      </p:sp>
      <p:sp>
        <p:nvSpPr>
          <p:cNvPr id="10" name="Shape 4"/>
          <p:cNvSpPr/>
          <p:nvPr/>
        </p:nvSpPr>
        <p:spPr>
          <a:xfrm>
            <a:off x="822960" y="2788920"/>
            <a:ext cx="48920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DE8DC"/>
            </a:solidFill>
            <a:prstDash val="solid"/>
          </a:ln>
          <a:effectLst>
            <a:outerShdw sx="100000" sy="100000" kx="0" ky="0" algn="bl" rotWithShape="0" blurRad="25400" dist="50800" dir="2700000">
              <a:srgbClr val="BDD2C0">
                <a:alpha val="18000"/>
              </a:srgbClr>
            </a:outerShdw>
          </a:effectLst>
        </p:spPr>
      </p:sp>
      <p:sp>
        <p:nvSpPr>
          <p:cNvPr id="11" name="Text 5"/>
          <p:cNvSpPr/>
          <p:nvPr/>
        </p:nvSpPr>
        <p:spPr>
          <a:xfrm>
            <a:off x="1097280" y="3054096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5A38"/>
                </a:solidFill>
              </a:rPr>
              <a:t>Estructura semántica usada</a:t>
            </a:r>
            <a:endParaRPr lang="en-US" sz="1550" dirty="0"/>
          </a:p>
        </p:txBody>
      </p:sp>
      <p:sp>
        <p:nvSpPr>
          <p:cNvPr id="12" name="Shape 6"/>
          <p:cNvSpPr/>
          <p:nvPr/>
        </p:nvSpPr>
        <p:spPr>
          <a:xfrm>
            <a:off x="1143000" y="3611880"/>
            <a:ext cx="91440" cy="91440"/>
          </a:xfrm>
          <a:prstGeom prst="ellipse">
            <a:avLst/>
          </a:prstGeom>
          <a:solidFill>
            <a:srgbClr val="C0743E"/>
          </a:solidFill>
          <a:ln w="12700">
            <a:solidFill>
              <a:srgbClr val="C0743E"/>
            </a:solidFill>
            <a:prstDash val="solid"/>
          </a:ln>
        </p:spPr>
      </p:sp>
      <p:sp>
        <p:nvSpPr>
          <p:cNvPr id="13" name="Text 7"/>
          <p:cNvSpPr/>
          <p:nvPr/>
        </p:nvSpPr>
        <p:spPr>
          <a:xfrm>
            <a:off x="1344168" y="352044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2302A"/>
                </a:solidFill>
              </a:rPr>
              <a:t>header + nav: menú principal</a:t>
            </a:r>
            <a:endParaRPr lang="en-US" sz="1200" dirty="0"/>
          </a:p>
        </p:txBody>
      </p:sp>
      <p:sp>
        <p:nvSpPr>
          <p:cNvPr id="14" name="Shape 8"/>
          <p:cNvSpPr/>
          <p:nvPr/>
        </p:nvSpPr>
        <p:spPr>
          <a:xfrm>
            <a:off x="1143000" y="3995928"/>
            <a:ext cx="91440" cy="91440"/>
          </a:xfrm>
          <a:prstGeom prst="ellipse">
            <a:avLst/>
          </a:prstGeom>
          <a:solidFill>
            <a:srgbClr val="C0743E"/>
          </a:solidFill>
          <a:ln w="12700">
            <a:solidFill>
              <a:srgbClr val="C0743E"/>
            </a:solidFill>
            <a:prstDash val="solid"/>
          </a:ln>
        </p:spPr>
      </p:sp>
      <p:sp>
        <p:nvSpPr>
          <p:cNvPr id="15" name="Text 9"/>
          <p:cNvSpPr/>
          <p:nvPr/>
        </p:nvSpPr>
        <p:spPr>
          <a:xfrm>
            <a:off x="1344168" y="390448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2302A"/>
                </a:solidFill>
              </a:rPr>
              <a:t>main + section: contenido del sitio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1143000" y="4379976"/>
            <a:ext cx="91440" cy="91440"/>
          </a:xfrm>
          <a:prstGeom prst="ellipse">
            <a:avLst/>
          </a:prstGeom>
          <a:solidFill>
            <a:srgbClr val="C0743E"/>
          </a:solidFill>
          <a:ln w="12700">
            <a:solidFill>
              <a:srgbClr val="C0743E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1344168" y="4288536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2302A"/>
                </a:solidFill>
              </a:rPr>
              <a:t>article: tarjetas de productos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1143000" y="4764024"/>
            <a:ext cx="91440" cy="91440"/>
          </a:xfrm>
          <a:prstGeom prst="ellipse">
            <a:avLst/>
          </a:prstGeom>
          <a:solidFill>
            <a:srgbClr val="C0743E"/>
          </a:solidFill>
          <a:ln w="12700">
            <a:solidFill>
              <a:srgbClr val="C0743E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1344168" y="467258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2302A"/>
                </a:solidFill>
              </a:rPr>
              <a:t>footer: enlaces y contacto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6172200" y="2788920"/>
            <a:ext cx="29260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DE8DC"/>
            </a:solidFill>
            <a:prstDash val="solid"/>
          </a:ln>
          <a:effectLst>
            <a:outerShdw sx="100000" sy="100000" kx="0" ky="0" algn="bl" rotWithShape="0" blurRad="25400" dist="50800" dir="2700000">
              <a:srgbClr val="BDD2C0">
                <a:alpha val="18000"/>
              </a:srgbClr>
            </a:outerShdw>
          </a:effectLst>
        </p:spPr>
      </p:sp>
      <p:sp>
        <p:nvSpPr>
          <p:cNvPr id="21" name="Text 15"/>
          <p:cNvSpPr/>
          <p:nvPr/>
        </p:nvSpPr>
        <p:spPr>
          <a:xfrm>
            <a:off x="6446520" y="305409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5A38"/>
                </a:solidFill>
              </a:rPr>
              <a:t>Páginas del repo</a:t>
            </a:r>
            <a:endParaRPr lang="en-US" sz="1550" dirty="0"/>
          </a:p>
        </p:txBody>
      </p:sp>
      <p:sp>
        <p:nvSpPr>
          <p:cNvPr id="22" name="Text 16"/>
          <p:cNvSpPr/>
          <p:nvPr/>
        </p:nvSpPr>
        <p:spPr>
          <a:xfrm>
            <a:off x="6537960" y="3520440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3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index.html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6537960" y="3831336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3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catalogo.html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6537960" y="4142232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3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detalle.html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6537960" y="4453128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3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carrito.html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6537960" y="4764024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3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contacto.html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548640" y="6446520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6B62"/>
                </a:solidFill>
              </a:rPr>
              <a:t>Raíz Verde · Diseño Web C2 · Primer avance 30%</a:t>
            </a:r>
            <a:endParaRPr lang="en-US" sz="850" dirty="0"/>
          </a:p>
        </p:txBody>
      </p:sp>
      <p:sp>
        <p:nvSpPr>
          <p:cNvPr id="28" name="Text 22"/>
          <p:cNvSpPr/>
          <p:nvPr/>
        </p:nvSpPr>
        <p:spPr>
          <a:xfrm>
            <a:off x="11155680" y="638251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F5A38"/>
                </a:solidFill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79552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F5A38"/>
                </a:solidFill>
              </a:rPr>
              <a:t>Integrante 1: CSS3, responsive y animaciones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D6B62"/>
                </a:solidFill>
              </a:rPr>
              <a:t>La hoja estilos.css centraliza la identidad visual y adapta el diseño a diferentes pantallas.</a:t>
            </a:r>
            <a:endParaRPr lang="en-US" sz="1350" dirty="0"/>
          </a:p>
        </p:txBody>
      </p:sp>
      <p:pic>
        <p:nvPicPr>
          <p:cNvPr id="4" name="Image 0" descr="/mnt/data/plant_img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5912" y="320040"/>
            <a:ext cx="566928" cy="566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481328"/>
            <a:ext cx="3886200" cy="4114800"/>
          </a:xfrm>
          <a:prstGeom prst="roundRect">
            <a:avLst>
              <a:gd name="adj" fmla="val 1882"/>
            </a:avLst>
          </a:prstGeom>
          <a:solidFill>
            <a:srgbClr val="193A28"/>
          </a:solidFill>
          <a:ln w="12700">
            <a:solidFill>
              <a:srgbClr val="193A2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05840" y="1645920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FE0C4"/>
                </a:solidFill>
              </a:rPr>
              <a:t>fragmento de estilos.css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005840" y="1984248"/>
            <a:ext cx="3429000" cy="3429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:root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--color-primary: #2f7d4f;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--color-secondary: #c0743e;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--color-fondo: #f5f8f2;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@media (max-width: 768px)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.banner__contenido { grid-template-columns: 1fr; }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20" dirty="0"/>
          </a:p>
        </p:txBody>
      </p:sp>
      <p:sp>
        <p:nvSpPr>
          <p:cNvPr id="8" name="Shape 5"/>
          <p:cNvSpPr/>
          <p:nvPr/>
        </p:nvSpPr>
        <p:spPr>
          <a:xfrm>
            <a:off x="5074920" y="1481328"/>
            <a:ext cx="608076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DDE8DC"/>
            </a:solidFill>
            <a:prstDash val="solid"/>
          </a:ln>
          <a:effectLst>
            <a:outerShdw sx="100000" sy="100000" kx="0" ky="0" algn="bl" rotWithShape="0" blurRad="25400" dist="50800" dir="2700000">
              <a:srgbClr val="BDD2C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394960" y="17830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A38"/>
                </a:solidFill>
              </a:rPr>
              <a:t>Lo que debe mencionar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5486400" y="2423160"/>
            <a:ext cx="91440" cy="91440"/>
          </a:xfrm>
          <a:prstGeom prst="ellipse">
            <a:avLst/>
          </a:prstGeom>
          <a:solidFill>
            <a:srgbClr val="C0743E"/>
          </a:solidFill>
          <a:ln w="12700">
            <a:solidFill>
              <a:srgbClr val="C0743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87568" y="233172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22302A"/>
                </a:solidFill>
              </a:rPr>
              <a:t>Variables CSS para paleta, fuentes, bordes y sombras.</a:t>
            </a:r>
            <a:endParaRPr lang="en-US" sz="1320" dirty="0"/>
          </a:p>
        </p:txBody>
      </p:sp>
      <p:sp>
        <p:nvSpPr>
          <p:cNvPr id="12" name="Shape 9"/>
          <p:cNvSpPr/>
          <p:nvPr/>
        </p:nvSpPr>
        <p:spPr>
          <a:xfrm>
            <a:off x="5486400" y="2944368"/>
            <a:ext cx="91440" cy="91440"/>
          </a:xfrm>
          <a:prstGeom prst="ellipse">
            <a:avLst/>
          </a:prstGeom>
          <a:solidFill>
            <a:srgbClr val="C0743E"/>
          </a:solidFill>
          <a:ln w="12700">
            <a:solidFill>
              <a:srgbClr val="C0743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87568" y="285292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22302A"/>
                </a:solidFill>
              </a:rPr>
              <a:t>Flexbox y CSS Grid para menú, banner, productos y carrito.</a:t>
            </a:r>
            <a:endParaRPr lang="en-US" sz="1320" dirty="0"/>
          </a:p>
        </p:txBody>
      </p:sp>
      <p:sp>
        <p:nvSpPr>
          <p:cNvPr id="14" name="Shape 11"/>
          <p:cNvSpPr/>
          <p:nvPr/>
        </p:nvSpPr>
        <p:spPr>
          <a:xfrm>
            <a:off x="5486400" y="3465576"/>
            <a:ext cx="91440" cy="91440"/>
          </a:xfrm>
          <a:prstGeom prst="ellipse">
            <a:avLst/>
          </a:prstGeom>
          <a:solidFill>
            <a:srgbClr val="C0743E"/>
          </a:solidFill>
          <a:ln w="12700">
            <a:solidFill>
              <a:srgbClr val="C0743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687568" y="337413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22302A"/>
                </a:solidFill>
              </a:rPr>
              <a:t>Animaciones @keyframes: flotar, subir y aparecer-badge.</a:t>
            </a:r>
            <a:endParaRPr lang="en-US" sz="1320" dirty="0"/>
          </a:p>
        </p:txBody>
      </p:sp>
      <p:sp>
        <p:nvSpPr>
          <p:cNvPr id="16" name="Shape 13"/>
          <p:cNvSpPr/>
          <p:nvPr/>
        </p:nvSpPr>
        <p:spPr>
          <a:xfrm>
            <a:off x="5486400" y="3986784"/>
            <a:ext cx="91440" cy="91440"/>
          </a:xfrm>
          <a:prstGeom prst="ellipse">
            <a:avLst/>
          </a:prstGeom>
          <a:solidFill>
            <a:srgbClr val="C0743E"/>
          </a:solidFill>
          <a:ln w="12700">
            <a:solidFill>
              <a:srgbClr val="C0743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687568" y="389534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22302A"/>
                </a:solidFill>
              </a:rPr>
              <a:t>Media Queries para escritorio, tablet y móvil.</a:t>
            </a:r>
            <a:endParaRPr lang="en-US" sz="1320" dirty="0"/>
          </a:p>
        </p:txBody>
      </p:sp>
      <p:pic>
        <p:nvPicPr>
          <p:cNvPr id="18" name="Image 1" descr="/mnt/data/plant_imgs/echeveri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4407408"/>
            <a:ext cx="914400" cy="91440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48640" y="6446520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6B62"/>
                </a:solidFill>
              </a:rPr>
              <a:t>Raíz Verde · Diseño Web C2 · Primer avance 30%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11155680" y="638251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F5A38"/>
                </a:solidFill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79552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F5A38"/>
                </a:solidFill>
              </a:rPr>
              <a:t>Integrante 2: datos del catálogo en JavaScript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D6B62"/>
                </a:solidFill>
              </a:rPr>
              <a:t>Los productos viven en productos.js, no están codificados directamente en el HTML.</a:t>
            </a:r>
            <a:endParaRPr lang="en-US" sz="1350" dirty="0"/>
          </a:p>
        </p:txBody>
      </p:sp>
      <p:pic>
        <p:nvPicPr>
          <p:cNvPr id="4" name="Image 0" descr="/mnt/data/plant_img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5912" y="320040"/>
            <a:ext cx="566928" cy="566928"/>
          </a:xfrm>
          <a:prstGeom prst="rect">
            <a:avLst/>
          </a:prstGeom>
        </p:spPr>
      </p:pic>
      <p:pic>
        <p:nvPicPr>
          <p:cNvPr id="5" name="Image 1" descr="/mnt/data/plant_imgs/potho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2368" y="1280160"/>
            <a:ext cx="1143000" cy="1143000"/>
          </a:xfrm>
          <a:prstGeom prst="rect">
            <a:avLst/>
          </a:prstGeom>
        </p:spPr>
      </p:pic>
      <p:pic>
        <p:nvPicPr>
          <p:cNvPr id="6" name="Image 2" descr="/mnt/data/plant_imgs/cactu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7584" y="4434840"/>
            <a:ext cx="960120" cy="96012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777240" y="1481328"/>
            <a:ext cx="4251960" cy="4187952"/>
          </a:xfrm>
          <a:prstGeom prst="roundRect">
            <a:avLst>
              <a:gd name="adj" fmla="val 1747"/>
            </a:avLst>
          </a:prstGeom>
          <a:solidFill>
            <a:srgbClr val="193A28"/>
          </a:solidFill>
          <a:ln w="12700">
            <a:solidFill>
              <a:srgbClr val="193A28"/>
            </a:solidFill>
            <a:prstDash val="solid"/>
          </a:ln>
        </p:spPr>
      </p:sp>
      <p:sp>
        <p:nvSpPr>
          <p:cNvPr id="8" name="Text 3"/>
          <p:cNvSpPr/>
          <p:nvPr/>
        </p:nvSpPr>
        <p:spPr>
          <a:xfrm>
            <a:off x="1005840" y="1645920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FE0C4"/>
                </a:solidFill>
              </a:rPr>
              <a:t>productos.js</a:t>
            </a:r>
            <a:endParaRPr lang="en-US" sz="850" dirty="0"/>
          </a:p>
        </p:txBody>
      </p:sp>
      <p:sp>
        <p:nvSpPr>
          <p:cNvPr id="9" name="Text 4"/>
          <p:cNvSpPr/>
          <p:nvPr/>
        </p:nvSpPr>
        <p:spPr>
          <a:xfrm>
            <a:off x="1005840" y="1984248"/>
            <a:ext cx="3794760" cy="3502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PRODUCTOS = [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id: 1,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nombre: "Monstera Deliciosa",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precio: 45.90,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imagen: "monstera.svg",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categoria: "interior",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descripcion: "..."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];</a:t>
            </a:r>
            <a:endParaRPr lang="en-US" sz="1020" dirty="0"/>
          </a:p>
        </p:txBody>
      </p:sp>
      <p:sp>
        <p:nvSpPr>
          <p:cNvPr id="10" name="Shape 5"/>
          <p:cNvSpPr/>
          <p:nvPr/>
        </p:nvSpPr>
        <p:spPr>
          <a:xfrm>
            <a:off x="5440680" y="1481328"/>
            <a:ext cx="4069080" cy="4187952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12700">
            <a:solidFill>
              <a:srgbClr val="DDE8DC"/>
            </a:solidFill>
            <a:prstDash val="solid"/>
          </a:ln>
          <a:effectLst>
            <a:outerShdw sx="100000" sy="100000" kx="0" ky="0" algn="bl" rotWithShape="0" blurRad="25400" dist="50800" dir="2700000">
              <a:srgbClr val="BDD2C0">
                <a:alpha val="18000"/>
              </a:srgbClr>
            </a:outerShdw>
          </a:effectLst>
        </p:spPr>
      </p:sp>
      <p:sp>
        <p:nvSpPr>
          <p:cNvPr id="11" name="Text 6"/>
          <p:cNvSpPr/>
          <p:nvPr/>
        </p:nvSpPr>
        <p:spPr>
          <a:xfrm>
            <a:off x="5715000" y="17830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A38"/>
                </a:solidFill>
              </a:rPr>
              <a:t>Cumplimiento del PA</a:t>
            </a:r>
            <a:endParaRPr lang="en-US" sz="1800" dirty="0"/>
          </a:p>
        </p:txBody>
      </p:sp>
      <p:sp>
        <p:nvSpPr>
          <p:cNvPr id="12" name="Shape 7"/>
          <p:cNvSpPr/>
          <p:nvPr/>
        </p:nvSpPr>
        <p:spPr>
          <a:xfrm>
            <a:off x="5760720" y="2423160"/>
            <a:ext cx="91440" cy="91440"/>
          </a:xfrm>
          <a:prstGeom prst="ellipse">
            <a:avLst/>
          </a:prstGeom>
          <a:solidFill>
            <a:srgbClr val="C0743E"/>
          </a:solidFill>
          <a:ln w="12700">
            <a:solidFill>
              <a:srgbClr val="C0743E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5961888" y="23317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22302A"/>
                </a:solidFill>
              </a:rPr>
              <a:t>Mínimo exigido: 6 ítems.</a:t>
            </a:r>
            <a:endParaRPr lang="en-US" sz="1320" dirty="0"/>
          </a:p>
        </p:txBody>
      </p:sp>
      <p:sp>
        <p:nvSpPr>
          <p:cNvPr id="14" name="Shape 9"/>
          <p:cNvSpPr/>
          <p:nvPr/>
        </p:nvSpPr>
        <p:spPr>
          <a:xfrm>
            <a:off x="5760720" y="2880360"/>
            <a:ext cx="91440" cy="91440"/>
          </a:xfrm>
          <a:prstGeom prst="ellipse">
            <a:avLst/>
          </a:prstGeom>
          <a:solidFill>
            <a:srgbClr val="C0743E"/>
          </a:solidFill>
          <a:ln w="12700">
            <a:solidFill>
              <a:srgbClr val="C0743E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5961888" y="27889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22302A"/>
                </a:solidFill>
              </a:rPr>
              <a:t>Proyecto: 9 productos.</a:t>
            </a:r>
            <a:endParaRPr lang="en-US" sz="1320" dirty="0"/>
          </a:p>
        </p:txBody>
      </p:sp>
      <p:sp>
        <p:nvSpPr>
          <p:cNvPr id="16" name="Shape 11"/>
          <p:cNvSpPr/>
          <p:nvPr/>
        </p:nvSpPr>
        <p:spPr>
          <a:xfrm>
            <a:off x="5760720" y="3337560"/>
            <a:ext cx="91440" cy="91440"/>
          </a:xfrm>
          <a:prstGeom prst="ellipse">
            <a:avLst/>
          </a:prstGeom>
          <a:solidFill>
            <a:srgbClr val="C0743E"/>
          </a:solidFill>
          <a:ln w="12700">
            <a:solidFill>
              <a:srgbClr val="C0743E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5961888" y="32461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22302A"/>
                </a:solidFill>
              </a:rPr>
              <a:t>Cada objeto tiene 6 propiedades.</a:t>
            </a:r>
            <a:endParaRPr lang="en-US" sz="1320" dirty="0"/>
          </a:p>
        </p:txBody>
      </p:sp>
      <p:sp>
        <p:nvSpPr>
          <p:cNvPr id="18" name="Shape 13"/>
          <p:cNvSpPr/>
          <p:nvPr/>
        </p:nvSpPr>
        <p:spPr>
          <a:xfrm>
            <a:off x="5760720" y="3794760"/>
            <a:ext cx="91440" cy="91440"/>
          </a:xfrm>
          <a:prstGeom prst="ellipse">
            <a:avLst/>
          </a:prstGeom>
          <a:solidFill>
            <a:srgbClr val="C0743E"/>
          </a:solidFill>
          <a:ln w="12700">
            <a:solidFill>
              <a:srgbClr val="C0743E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5961888" y="37033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22302A"/>
                </a:solidFill>
              </a:rPr>
              <a:t>Se reutiliza en Home, Catálogo, Detalle y Carrito.</a:t>
            </a:r>
            <a:endParaRPr lang="en-US" sz="1320" dirty="0"/>
          </a:p>
        </p:txBody>
      </p:sp>
      <p:sp>
        <p:nvSpPr>
          <p:cNvPr id="20" name="Text 15"/>
          <p:cNvSpPr/>
          <p:nvPr/>
        </p:nvSpPr>
        <p:spPr>
          <a:xfrm>
            <a:off x="5742432" y="468172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5D6B62"/>
                </a:solidFill>
              </a:rPr>
              <a:t>Dato fuerte para decir: “El catálogo se mantiene desde una sola fuente de datos”.</a:t>
            </a:r>
            <a:endParaRPr lang="en-US" sz="1220" dirty="0"/>
          </a:p>
        </p:txBody>
      </p:sp>
      <p:sp>
        <p:nvSpPr>
          <p:cNvPr id="21" name="Text 16"/>
          <p:cNvSpPr/>
          <p:nvPr/>
        </p:nvSpPr>
        <p:spPr>
          <a:xfrm>
            <a:off x="548640" y="6446520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6B62"/>
                </a:solidFill>
              </a:rPr>
              <a:t>Raíz Verde · Diseño Web C2 · Primer avance 30%</a:t>
            </a:r>
            <a:endParaRPr lang="en-US" sz="850" dirty="0"/>
          </a:p>
        </p:txBody>
      </p:sp>
      <p:sp>
        <p:nvSpPr>
          <p:cNvPr id="22" name="Text 17"/>
          <p:cNvSpPr/>
          <p:nvPr/>
        </p:nvSpPr>
        <p:spPr>
          <a:xfrm>
            <a:off x="11155680" y="638251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F5A38"/>
                </a:solidFill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79552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F5A38"/>
                </a:solidFill>
              </a:rPr>
              <a:t>Integrante 2: catálogo, filtros y vista detalle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D6B62"/>
                </a:solidFill>
              </a:rPr>
              <a:t>catalogo.js y detalle.js manipulan el DOM según la interacción del usuario.</a:t>
            </a:r>
            <a:endParaRPr lang="en-US" sz="1350" dirty="0"/>
          </a:p>
        </p:txBody>
      </p:sp>
      <p:pic>
        <p:nvPicPr>
          <p:cNvPr id="4" name="Image 0" descr="/mnt/data/plant_img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5912" y="320040"/>
            <a:ext cx="566928" cy="566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68680" y="1481328"/>
            <a:ext cx="3108960" cy="434340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DE8DC"/>
            </a:solidFill>
            <a:prstDash val="solid"/>
          </a:ln>
          <a:effectLst>
            <a:outerShdw sx="100000" sy="100000" kx="0" ky="0" algn="bl" rotWithShape="0" blurRad="25400" dist="50800" dir="2700000">
              <a:srgbClr val="BDD2C0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143000" y="178308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5A38"/>
                </a:solidFill>
              </a:rPr>
              <a:t>Catálogo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1207008" y="2468880"/>
            <a:ext cx="91440" cy="91440"/>
          </a:xfrm>
          <a:prstGeom prst="ellipse">
            <a:avLst/>
          </a:prstGeom>
          <a:solidFill>
            <a:srgbClr val="C0743E"/>
          </a:solidFill>
          <a:ln w="12700">
            <a:solidFill>
              <a:srgbClr val="C0743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408176" y="237744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2302A"/>
                </a:solidFill>
              </a:rPr>
              <a:t>Pinta productos con innerHTML.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1207008" y="2907792"/>
            <a:ext cx="91440" cy="91440"/>
          </a:xfrm>
          <a:prstGeom prst="ellipse">
            <a:avLst/>
          </a:prstGeom>
          <a:solidFill>
            <a:srgbClr val="C0743E"/>
          </a:solidFill>
          <a:ln w="12700">
            <a:solidFill>
              <a:srgbClr val="C0743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408176" y="281635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2302A"/>
                </a:solidFill>
              </a:rPr>
              <a:t>Búsqueda en vivo con input.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1207008" y="3346704"/>
            <a:ext cx="91440" cy="91440"/>
          </a:xfrm>
          <a:prstGeom prst="ellipse">
            <a:avLst/>
          </a:prstGeom>
          <a:solidFill>
            <a:srgbClr val="C0743E"/>
          </a:solidFill>
          <a:ln w="12700">
            <a:solidFill>
              <a:srgbClr val="C0743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408176" y="3255264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2302A"/>
                </a:solidFill>
              </a:rPr>
              <a:t>Filtro por categoría con change.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1207008" y="3785616"/>
            <a:ext cx="91440" cy="91440"/>
          </a:xfrm>
          <a:prstGeom prst="ellipse">
            <a:avLst/>
          </a:prstGeom>
          <a:solidFill>
            <a:srgbClr val="C0743E"/>
          </a:solidFill>
          <a:ln w="12700">
            <a:solidFill>
              <a:srgbClr val="C0743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408176" y="3694176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2302A"/>
                </a:solidFill>
              </a:rPr>
              <a:t>Botón Agregar usa click.</a:t>
            </a:r>
            <a:endParaRPr lang="en-US" sz="1250" dirty="0"/>
          </a:p>
        </p:txBody>
      </p:sp>
      <p:pic>
        <p:nvPicPr>
          <p:cNvPr id="15" name="Image 1" descr="/mnt/data/plant_imgs/helech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2032" y="4434840"/>
            <a:ext cx="822960" cy="82296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4617720" y="1481328"/>
            <a:ext cx="3108960" cy="434340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DE8DC"/>
            </a:solidFill>
            <a:prstDash val="solid"/>
          </a:ln>
          <a:effectLst>
            <a:outerShdw sx="100000" sy="100000" kx="0" ky="0" algn="bl" rotWithShape="0" blurRad="25400" dist="50800" dir="2700000">
              <a:srgbClr val="BDD2C0">
                <a:alpha val="18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4892040" y="178308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5A38"/>
                </a:solidFill>
              </a:rPr>
              <a:t>Detalle</a:t>
            </a:r>
            <a:endParaRPr lang="en-US" sz="2000" dirty="0"/>
          </a:p>
        </p:txBody>
      </p:sp>
      <p:sp>
        <p:nvSpPr>
          <p:cNvPr id="18" name="Shape 14"/>
          <p:cNvSpPr/>
          <p:nvPr/>
        </p:nvSpPr>
        <p:spPr>
          <a:xfrm>
            <a:off x="4956048" y="2468880"/>
            <a:ext cx="91440" cy="91440"/>
          </a:xfrm>
          <a:prstGeom prst="ellipse">
            <a:avLst/>
          </a:prstGeom>
          <a:solidFill>
            <a:srgbClr val="C0743E"/>
          </a:solidFill>
          <a:ln w="12700">
            <a:solidFill>
              <a:srgbClr val="C0743E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157216" y="237744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2302A"/>
                </a:solidFill>
              </a:rPr>
              <a:t>Lee ?id= desde la URL.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4956048" y="2907792"/>
            <a:ext cx="91440" cy="91440"/>
          </a:xfrm>
          <a:prstGeom prst="ellipse">
            <a:avLst/>
          </a:prstGeom>
          <a:solidFill>
            <a:srgbClr val="C0743E"/>
          </a:solidFill>
          <a:ln w="12700">
            <a:solidFill>
              <a:srgbClr val="C0743E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157216" y="281635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2302A"/>
                </a:solidFill>
              </a:rPr>
              <a:t>Busca producto por id.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4956048" y="3346704"/>
            <a:ext cx="91440" cy="91440"/>
          </a:xfrm>
          <a:prstGeom prst="ellipse">
            <a:avLst/>
          </a:prstGeom>
          <a:solidFill>
            <a:srgbClr val="C0743E"/>
          </a:solidFill>
          <a:ln w="12700">
            <a:solidFill>
              <a:srgbClr val="C0743E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157216" y="3255264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2302A"/>
                </a:solidFill>
              </a:rPr>
              <a:t>Muestra imagen, precio y descripción.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4956048" y="3785616"/>
            <a:ext cx="91440" cy="91440"/>
          </a:xfrm>
          <a:prstGeom prst="ellipse">
            <a:avLst/>
          </a:prstGeom>
          <a:solidFill>
            <a:srgbClr val="C0743E"/>
          </a:solidFill>
          <a:ln w="12700">
            <a:solidFill>
              <a:srgbClr val="C0743E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5157216" y="3694176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2302A"/>
                </a:solidFill>
              </a:rPr>
              <a:t>Permite agregar al carrito.</a:t>
            </a:r>
            <a:endParaRPr lang="en-US" sz="1250" dirty="0"/>
          </a:p>
        </p:txBody>
      </p:sp>
      <p:pic>
        <p:nvPicPr>
          <p:cNvPr id="26" name="Image 2" descr="/mnt/data/plant_imgs/lavand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4434840"/>
            <a:ext cx="822960" cy="822960"/>
          </a:xfrm>
          <a:prstGeom prst="rect">
            <a:avLst/>
          </a:prstGeom>
        </p:spPr>
      </p:pic>
      <p:sp>
        <p:nvSpPr>
          <p:cNvPr id="27" name="Shape 22"/>
          <p:cNvSpPr/>
          <p:nvPr/>
        </p:nvSpPr>
        <p:spPr>
          <a:xfrm>
            <a:off x="8366760" y="1481328"/>
            <a:ext cx="2560320" cy="4343400"/>
          </a:xfrm>
          <a:prstGeom prst="roundRect">
            <a:avLst>
              <a:gd name="adj" fmla="val 2857"/>
            </a:avLst>
          </a:prstGeom>
          <a:solidFill>
            <a:srgbClr val="E7F2EA"/>
          </a:solidFill>
          <a:ln w="12700">
            <a:solidFill>
              <a:srgbClr val="E7F2EA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8641080" y="1783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5A38"/>
                </a:solidFill>
              </a:rPr>
              <a:t>Eventos JS</a:t>
            </a:r>
            <a:endParaRPr lang="en-US" sz="2000" dirty="0"/>
          </a:p>
        </p:txBody>
      </p:sp>
      <p:sp>
        <p:nvSpPr>
          <p:cNvPr id="29" name="Shape 24"/>
          <p:cNvSpPr/>
          <p:nvPr/>
        </p:nvSpPr>
        <p:spPr>
          <a:xfrm>
            <a:off x="8732520" y="2395728"/>
            <a:ext cx="1600200" cy="320040"/>
          </a:xfrm>
          <a:prstGeom prst="roundRect">
            <a:avLst>
              <a:gd name="adj" fmla="val 25714"/>
            </a:avLst>
          </a:prstGeom>
          <a:solidFill>
            <a:srgbClr val="2F7D4F"/>
          </a:solidFill>
          <a:ln w="12700">
            <a:solidFill>
              <a:srgbClr val="2F7D4F">
                <a:alpha val="0"/>
              </a:srgbClr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8805672" y="2468880"/>
            <a:ext cx="14538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</a:rPr>
              <a:t>DOMContentLoaded</a:t>
            </a:r>
            <a:endParaRPr lang="en-US" sz="860" dirty="0"/>
          </a:p>
        </p:txBody>
      </p:sp>
      <p:sp>
        <p:nvSpPr>
          <p:cNvPr id="31" name="Shape 26"/>
          <p:cNvSpPr/>
          <p:nvPr/>
        </p:nvSpPr>
        <p:spPr>
          <a:xfrm>
            <a:off x="8732520" y="2898648"/>
            <a:ext cx="1600200" cy="320040"/>
          </a:xfrm>
          <a:prstGeom prst="roundRect">
            <a:avLst>
              <a:gd name="adj" fmla="val 25714"/>
            </a:avLst>
          </a:prstGeom>
          <a:solidFill>
            <a:srgbClr val="C0743E"/>
          </a:solidFill>
          <a:ln w="12700">
            <a:solidFill>
              <a:srgbClr val="C0743E">
                <a:alpha val="0"/>
              </a:srgbClr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8805672" y="2971800"/>
            <a:ext cx="14538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</a:rPr>
              <a:t>input</a:t>
            </a:r>
            <a:endParaRPr lang="en-US" sz="860" dirty="0"/>
          </a:p>
        </p:txBody>
      </p:sp>
      <p:sp>
        <p:nvSpPr>
          <p:cNvPr id="33" name="Shape 28"/>
          <p:cNvSpPr/>
          <p:nvPr/>
        </p:nvSpPr>
        <p:spPr>
          <a:xfrm>
            <a:off x="8732520" y="3401568"/>
            <a:ext cx="1600200" cy="320040"/>
          </a:xfrm>
          <a:prstGeom prst="roundRect">
            <a:avLst>
              <a:gd name="adj" fmla="val 25714"/>
            </a:avLst>
          </a:prstGeom>
          <a:solidFill>
            <a:srgbClr val="2F7D4F"/>
          </a:solidFill>
          <a:ln w="12700">
            <a:solidFill>
              <a:srgbClr val="2F7D4F">
                <a:alpha val="0"/>
              </a:srgbClr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8805672" y="3474720"/>
            <a:ext cx="14538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</a:rPr>
              <a:t>change</a:t>
            </a:r>
            <a:endParaRPr lang="en-US" sz="860" dirty="0"/>
          </a:p>
        </p:txBody>
      </p:sp>
      <p:sp>
        <p:nvSpPr>
          <p:cNvPr id="35" name="Shape 30"/>
          <p:cNvSpPr/>
          <p:nvPr/>
        </p:nvSpPr>
        <p:spPr>
          <a:xfrm>
            <a:off x="8732520" y="3904488"/>
            <a:ext cx="1600200" cy="320040"/>
          </a:xfrm>
          <a:prstGeom prst="roundRect">
            <a:avLst>
              <a:gd name="adj" fmla="val 25714"/>
            </a:avLst>
          </a:prstGeom>
          <a:solidFill>
            <a:srgbClr val="C0743E"/>
          </a:solidFill>
          <a:ln w="12700">
            <a:solidFill>
              <a:srgbClr val="C0743E">
                <a:alpha val="0"/>
              </a:srgbClr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8805672" y="3977640"/>
            <a:ext cx="14538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</a:rPr>
              <a:t>click</a:t>
            </a:r>
            <a:endParaRPr lang="en-US" sz="860" dirty="0"/>
          </a:p>
        </p:txBody>
      </p:sp>
      <p:sp>
        <p:nvSpPr>
          <p:cNvPr id="37" name="Text 32"/>
          <p:cNvSpPr/>
          <p:nvPr/>
        </p:nvSpPr>
        <p:spPr>
          <a:xfrm>
            <a:off x="548640" y="6446520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6B62"/>
                </a:solidFill>
              </a:rPr>
              <a:t>Raíz Verde · Diseño Web C2 · Primer avance 30%</a:t>
            </a:r>
            <a:endParaRPr lang="en-US" sz="850" dirty="0"/>
          </a:p>
        </p:txBody>
      </p:sp>
      <p:sp>
        <p:nvSpPr>
          <p:cNvPr id="38" name="Text 33"/>
          <p:cNvSpPr/>
          <p:nvPr/>
        </p:nvSpPr>
        <p:spPr>
          <a:xfrm>
            <a:off x="11155680" y="638251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F5A38"/>
                </a:solidFill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79552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F5A38"/>
                </a:solidFill>
              </a:rPr>
              <a:t>Integrante 3: carrito con localStorage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D6B62"/>
                </a:solidFill>
              </a:rPr>
              <a:t>El carrito persiste al cambiar de página y al recargar el navegador.</a:t>
            </a:r>
            <a:endParaRPr lang="en-US" sz="1350" dirty="0"/>
          </a:p>
        </p:txBody>
      </p:sp>
      <p:pic>
        <p:nvPicPr>
          <p:cNvPr id="4" name="Image 0" descr="/mnt/data/plant_img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5912" y="320040"/>
            <a:ext cx="566928" cy="566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481328"/>
            <a:ext cx="4709160" cy="4434840"/>
          </a:xfrm>
          <a:prstGeom prst="roundRect">
            <a:avLst>
              <a:gd name="adj" fmla="val 1649"/>
            </a:avLst>
          </a:prstGeom>
          <a:solidFill>
            <a:srgbClr val="193A28"/>
          </a:solidFill>
          <a:ln w="12700">
            <a:solidFill>
              <a:srgbClr val="193A2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05840" y="1645920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FE0C4"/>
                </a:solidFill>
              </a:rPr>
              <a:t>carrito.js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005840" y="1984248"/>
            <a:ext cx="4251960" cy="3749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CLAVE_CARRITO = "raizverde_carrito";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obtenerCarrito()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datos = localStorage.getItem(CLAVE_CARRITO);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datos ? JSON.parse(datos) : [];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guardarCarrito(carrito)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localStorage.setItem(CLAVE_CARRITO, JSON.stringify(carrito));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20" dirty="0"/>
          </a:p>
        </p:txBody>
      </p:sp>
      <p:sp>
        <p:nvSpPr>
          <p:cNvPr id="8" name="Shape 5"/>
          <p:cNvSpPr/>
          <p:nvPr/>
        </p:nvSpPr>
        <p:spPr>
          <a:xfrm>
            <a:off x="5897880" y="1481328"/>
            <a:ext cx="466344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DDE8DC"/>
            </a:solidFill>
            <a:prstDash val="solid"/>
          </a:ln>
          <a:effectLst>
            <a:outerShdw sx="100000" sy="100000" kx="0" ky="0" algn="bl" rotWithShape="0" blurRad="25400" dist="50800" dir="2700000">
              <a:srgbClr val="BDD2C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199632" y="178308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5A38"/>
                </a:solidFill>
              </a:rPr>
              <a:t>Flujo del carrito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6263640" y="2359152"/>
            <a:ext cx="292608" cy="292608"/>
          </a:xfrm>
          <a:prstGeom prst="ellipse">
            <a:avLst/>
          </a:prstGeom>
          <a:solidFill>
            <a:srgbClr val="C0743E"/>
          </a:solidFill>
          <a:ln w="12700">
            <a:solidFill>
              <a:srgbClr val="C0743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64224" y="242316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6720840" y="237744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22302A"/>
                </a:solidFill>
              </a:rPr>
              <a:t>Agregar producto</a:t>
            </a:r>
            <a:endParaRPr lang="en-US" sz="1320" dirty="0"/>
          </a:p>
        </p:txBody>
      </p:sp>
      <p:sp>
        <p:nvSpPr>
          <p:cNvPr id="13" name="Shape 10"/>
          <p:cNvSpPr/>
          <p:nvPr/>
        </p:nvSpPr>
        <p:spPr>
          <a:xfrm>
            <a:off x="6263640" y="2871216"/>
            <a:ext cx="292608" cy="292608"/>
          </a:xfrm>
          <a:prstGeom prst="ellipse">
            <a:avLst/>
          </a:prstGeom>
          <a:solidFill>
            <a:srgbClr val="C0743E"/>
          </a:solidFill>
          <a:ln w="12700">
            <a:solidFill>
              <a:srgbClr val="C0743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64224" y="2935224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2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6720840" y="2889504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22302A"/>
                </a:solidFill>
              </a:rPr>
              <a:t>Guardar en localStorage</a:t>
            </a:r>
            <a:endParaRPr lang="en-US" sz="1320" dirty="0"/>
          </a:p>
        </p:txBody>
      </p:sp>
      <p:sp>
        <p:nvSpPr>
          <p:cNvPr id="16" name="Shape 13"/>
          <p:cNvSpPr/>
          <p:nvPr/>
        </p:nvSpPr>
        <p:spPr>
          <a:xfrm>
            <a:off x="6263640" y="3383280"/>
            <a:ext cx="292608" cy="292608"/>
          </a:xfrm>
          <a:prstGeom prst="ellipse">
            <a:avLst/>
          </a:prstGeom>
          <a:solidFill>
            <a:srgbClr val="C0743E"/>
          </a:solidFill>
          <a:ln w="12700">
            <a:solidFill>
              <a:srgbClr val="C0743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64224" y="3447288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3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6720840" y="340156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22302A"/>
                </a:solidFill>
              </a:rPr>
              <a:t>Actualizar contador</a:t>
            </a:r>
            <a:endParaRPr lang="en-US" sz="1320" dirty="0"/>
          </a:p>
        </p:txBody>
      </p:sp>
      <p:sp>
        <p:nvSpPr>
          <p:cNvPr id="19" name="Shape 16"/>
          <p:cNvSpPr/>
          <p:nvPr/>
        </p:nvSpPr>
        <p:spPr>
          <a:xfrm>
            <a:off x="6263640" y="3895344"/>
            <a:ext cx="292608" cy="292608"/>
          </a:xfrm>
          <a:prstGeom prst="ellipse">
            <a:avLst/>
          </a:prstGeom>
          <a:solidFill>
            <a:srgbClr val="C0743E"/>
          </a:solidFill>
          <a:ln w="12700">
            <a:solidFill>
              <a:srgbClr val="C0743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364224" y="3959352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4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6720840" y="391363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22302A"/>
                </a:solidFill>
              </a:rPr>
              <a:t>Recalcular subtotal y total</a:t>
            </a:r>
            <a:endParaRPr lang="en-US" sz="1320" dirty="0"/>
          </a:p>
        </p:txBody>
      </p:sp>
      <p:sp>
        <p:nvSpPr>
          <p:cNvPr id="22" name="Shape 19"/>
          <p:cNvSpPr/>
          <p:nvPr/>
        </p:nvSpPr>
        <p:spPr>
          <a:xfrm>
            <a:off x="6263640" y="4407408"/>
            <a:ext cx="292608" cy="292608"/>
          </a:xfrm>
          <a:prstGeom prst="ellipse">
            <a:avLst/>
          </a:prstGeom>
          <a:solidFill>
            <a:srgbClr val="C0743E"/>
          </a:solidFill>
          <a:ln w="12700">
            <a:solidFill>
              <a:srgbClr val="C0743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364224" y="4471416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5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6720840" y="4425696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22302A"/>
                </a:solidFill>
              </a:rPr>
              <a:t>Eliminar o cambiar cantidad</a:t>
            </a:r>
            <a:endParaRPr lang="en-US" sz="1320" dirty="0"/>
          </a:p>
        </p:txBody>
      </p:sp>
      <p:pic>
        <p:nvPicPr>
          <p:cNvPr id="25" name="Image 1" descr="/mnt/data/plant_imgs/macet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0" y="4754880"/>
            <a:ext cx="777240" cy="77724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548640" y="6446520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6B62"/>
                </a:solidFill>
              </a:rPr>
              <a:t>Raíz Verde · Diseño Web C2 · Primer avance 30%</a:t>
            </a:r>
            <a:endParaRPr lang="en-US" sz="850" dirty="0"/>
          </a:p>
        </p:txBody>
      </p:sp>
      <p:sp>
        <p:nvSpPr>
          <p:cNvPr id="27" name="Text 23"/>
          <p:cNvSpPr/>
          <p:nvPr/>
        </p:nvSpPr>
        <p:spPr>
          <a:xfrm>
            <a:off x="11155680" y="638251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F5A38"/>
                </a:solidFill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79552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F5A38"/>
                </a:solidFill>
              </a:rPr>
              <a:t>Integrante 3: formulario con validación JavaScript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D6B62"/>
                </a:solidFill>
              </a:rPr>
              <a:t>contacto.js valida datos antes de registrar el pedido y muestra retroalimentación visual.</a:t>
            </a:r>
            <a:endParaRPr lang="en-US" sz="1350" dirty="0"/>
          </a:p>
        </p:txBody>
      </p:sp>
      <p:pic>
        <p:nvPicPr>
          <p:cNvPr id="4" name="Image 0" descr="/mnt/data/plant_img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5912" y="320040"/>
            <a:ext cx="566928" cy="566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" y="1417320"/>
            <a:ext cx="3931920" cy="406908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DDE8DC"/>
            </a:solidFill>
            <a:prstDash val="solid"/>
          </a:ln>
          <a:effectLst>
            <a:outerShdw sx="100000" sy="100000" kx="0" ky="0" algn="bl" rotWithShape="0" blurRad="25400" dist="50800" dir="2700000">
              <a:srgbClr val="BDD2C0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097280" y="1737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5A38"/>
                </a:solidFill>
              </a:rPr>
              <a:t>Campos validados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1170432" y="2423160"/>
            <a:ext cx="91440" cy="91440"/>
          </a:xfrm>
          <a:prstGeom prst="ellipse">
            <a:avLst/>
          </a:prstGeom>
          <a:solidFill>
            <a:srgbClr val="C0743E"/>
          </a:solidFill>
          <a:ln w="12700">
            <a:solidFill>
              <a:srgbClr val="C0743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371600" y="23317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22302A"/>
                </a:solidFill>
              </a:rPr>
              <a:t>Nombre: mínimo 3 letras</a:t>
            </a:r>
            <a:endParaRPr lang="en-US" sz="1240" dirty="0"/>
          </a:p>
        </p:txBody>
      </p:sp>
      <p:sp>
        <p:nvSpPr>
          <p:cNvPr id="9" name="Shape 6"/>
          <p:cNvSpPr/>
          <p:nvPr/>
        </p:nvSpPr>
        <p:spPr>
          <a:xfrm>
            <a:off x="1170432" y="2862072"/>
            <a:ext cx="91440" cy="91440"/>
          </a:xfrm>
          <a:prstGeom prst="ellipse">
            <a:avLst/>
          </a:prstGeom>
          <a:solidFill>
            <a:srgbClr val="C0743E"/>
          </a:solidFill>
          <a:ln w="12700">
            <a:solidFill>
              <a:srgbClr val="C0743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371600" y="277063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22302A"/>
                </a:solidFill>
              </a:rPr>
              <a:t>Email con formato correcto</a:t>
            </a:r>
            <a:endParaRPr lang="en-US" sz="1240" dirty="0"/>
          </a:p>
        </p:txBody>
      </p:sp>
      <p:sp>
        <p:nvSpPr>
          <p:cNvPr id="11" name="Shape 8"/>
          <p:cNvSpPr/>
          <p:nvPr/>
        </p:nvSpPr>
        <p:spPr>
          <a:xfrm>
            <a:off x="1170432" y="3300984"/>
            <a:ext cx="91440" cy="91440"/>
          </a:xfrm>
          <a:prstGeom prst="ellipse">
            <a:avLst/>
          </a:prstGeom>
          <a:solidFill>
            <a:srgbClr val="C0743E"/>
          </a:solidFill>
          <a:ln w="12700">
            <a:solidFill>
              <a:srgbClr val="C0743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371600" y="320954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22302A"/>
                </a:solidFill>
              </a:rPr>
              <a:t>Teléfono: 9 dígitos</a:t>
            </a:r>
            <a:endParaRPr lang="en-US" sz="1240" dirty="0"/>
          </a:p>
        </p:txBody>
      </p:sp>
      <p:sp>
        <p:nvSpPr>
          <p:cNvPr id="13" name="Shape 10"/>
          <p:cNvSpPr/>
          <p:nvPr/>
        </p:nvSpPr>
        <p:spPr>
          <a:xfrm>
            <a:off x="1170432" y="3739896"/>
            <a:ext cx="91440" cy="91440"/>
          </a:xfrm>
          <a:prstGeom prst="ellipse">
            <a:avLst/>
          </a:prstGeom>
          <a:solidFill>
            <a:srgbClr val="C0743E"/>
          </a:solidFill>
          <a:ln w="12700">
            <a:solidFill>
              <a:srgbClr val="C0743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371600" y="364845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22302A"/>
                </a:solidFill>
              </a:rPr>
              <a:t>Dirección obligatoria</a:t>
            </a:r>
            <a:endParaRPr lang="en-US" sz="1240" dirty="0"/>
          </a:p>
        </p:txBody>
      </p:sp>
      <p:sp>
        <p:nvSpPr>
          <p:cNvPr id="15" name="Shape 12"/>
          <p:cNvSpPr/>
          <p:nvPr/>
        </p:nvSpPr>
        <p:spPr>
          <a:xfrm>
            <a:off x="1170432" y="4178808"/>
            <a:ext cx="91440" cy="91440"/>
          </a:xfrm>
          <a:prstGeom prst="ellipse">
            <a:avLst/>
          </a:prstGeom>
          <a:solidFill>
            <a:srgbClr val="C0743E"/>
          </a:solidFill>
          <a:ln w="12700">
            <a:solidFill>
              <a:srgbClr val="C0743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371600" y="408736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22302A"/>
                </a:solidFill>
              </a:rPr>
              <a:t>Fecha no anterior a hoy</a:t>
            </a:r>
            <a:endParaRPr lang="en-US" sz="1240" dirty="0"/>
          </a:p>
        </p:txBody>
      </p:sp>
      <p:pic>
        <p:nvPicPr>
          <p:cNvPr id="17" name="Image 1" descr="/mnt/data/plant_imgs/sustrat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4617720"/>
            <a:ext cx="658368" cy="658368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5257800" y="1417320"/>
            <a:ext cx="5303520" cy="4069080"/>
          </a:xfrm>
          <a:prstGeom prst="roundRect">
            <a:avLst>
              <a:gd name="adj" fmla="val 1798"/>
            </a:avLst>
          </a:prstGeom>
          <a:solidFill>
            <a:srgbClr val="193A28"/>
          </a:solidFill>
          <a:ln w="12700">
            <a:solidFill>
              <a:srgbClr val="193A28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486400" y="1581912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FE0C4"/>
                </a:solidFill>
              </a:rPr>
              <a:t>contacto.js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5486400" y="1920240"/>
            <a:ext cx="4846320" cy="3383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form.addEventListener("submit", (evento) =&gt;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evento.preventDefault();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resultados = Object.keys(campos).map(validarCampo);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todoValido = resultados.every(Boolean);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20" dirty="0"/>
          </a:p>
        </p:txBody>
      </p:sp>
      <p:sp>
        <p:nvSpPr>
          <p:cNvPr id="21" name="Shape 17"/>
          <p:cNvSpPr/>
          <p:nvPr/>
        </p:nvSpPr>
        <p:spPr>
          <a:xfrm>
            <a:off x="914400" y="5650992"/>
            <a:ext cx="9601200" cy="457200"/>
          </a:xfrm>
          <a:prstGeom prst="roundRect">
            <a:avLst>
              <a:gd name="adj" fmla="val 16000"/>
            </a:avLst>
          </a:prstGeom>
          <a:solidFill>
            <a:srgbClr val="F5E5D8"/>
          </a:solidFill>
          <a:ln w="12700">
            <a:solidFill>
              <a:srgbClr val="F5E5D8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1143000" y="5797296"/>
            <a:ext cx="9052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F5A38"/>
                </a:solidFill>
              </a:rPr>
              <a:t>Demo sugerida: forzar un error dejando vacío el nombre o escribiendo un correo incorrecto.</a:t>
            </a:r>
            <a:endParaRPr lang="en-US" sz="1220" dirty="0"/>
          </a:p>
        </p:txBody>
      </p:sp>
      <p:sp>
        <p:nvSpPr>
          <p:cNvPr id="23" name="Text 19"/>
          <p:cNvSpPr/>
          <p:nvPr/>
        </p:nvSpPr>
        <p:spPr>
          <a:xfrm>
            <a:off x="548640" y="6446520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6B62"/>
                </a:solidFill>
              </a:rPr>
              <a:t>Raíz Verde · Diseño Web C2 · Primer avance 30%</a:t>
            </a:r>
            <a:endParaRPr lang="en-US" sz="850" dirty="0"/>
          </a:p>
        </p:txBody>
      </p:sp>
      <p:sp>
        <p:nvSpPr>
          <p:cNvPr id="24" name="Text 20"/>
          <p:cNvSpPr/>
          <p:nvPr/>
        </p:nvSpPr>
        <p:spPr>
          <a:xfrm>
            <a:off x="11155680" y="638251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F5A38"/>
                </a:solidFill>
              </a:rPr>
              <a:t>09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79552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F5A38"/>
                </a:solidFill>
              </a:rPr>
              <a:t>Cierre: demo y respuestas rápidas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D6B62"/>
                </a:solidFill>
              </a:rPr>
              <a:t>Orden recomendado para no perder tiempo durante la exposición.</a:t>
            </a:r>
            <a:endParaRPr lang="en-US" sz="1350" dirty="0"/>
          </a:p>
        </p:txBody>
      </p:sp>
      <p:pic>
        <p:nvPicPr>
          <p:cNvPr id="4" name="Image 0" descr="/mnt/data/plant_img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5912" y="320040"/>
            <a:ext cx="566928" cy="566928"/>
          </a:xfrm>
          <a:prstGeom prst="rect">
            <a:avLst/>
          </a:prstGeom>
        </p:spPr>
      </p:pic>
      <p:pic>
        <p:nvPicPr>
          <p:cNvPr id="5" name="Image 1" descr="/mnt/data/plant_img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1325880"/>
            <a:ext cx="777240" cy="777240"/>
          </a:xfrm>
          <a:prstGeom prst="rect">
            <a:avLst/>
          </a:prstGeom>
        </p:spPr>
      </p:pic>
      <p:pic>
        <p:nvPicPr>
          <p:cNvPr id="6" name="Image 2" descr="/mnt/data/plant_imgs/monster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9720" y="4572000"/>
            <a:ext cx="1005840" cy="100584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777240" y="1417320"/>
            <a:ext cx="548640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DDE8DC"/>
            </a:solidFill>
            <a:prstDash val="solid"/>
          </a:ln>
          <a:effectLst>
            <a:outerShdw sx="100000" sy="100000" kx="0" ky="0" algn="bl" rotWithShape="0" blurRad="25400" dist="50800" dir="2700000">
              <a:srgbClr val="BDD2C0">
                <a:alpha val="18000"/>
              </a:srgbClr>
            </a:outerShdw>
          </a:effectLst>
        </p:spPr>
      </p:sp>
      <p:sp>
        <p:nvSpPr>
          <p:cNvPr id="8" name="Text 3"/>
          <p:cNvSpPr/>
          <p:nvPr/>
        </p:nvSpPr>
        <p:spPr>
          <a:xfrm>
            <a:off x="1078992" y="17373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5A38"/>
                </a:solidFill>
              </a:rPr>
              <a:t>Guion de demostración</a:t>
            </a:r>
            <a:endParaRPr lang="en-US" sz="2000" dirty="0"/>
          </a:p>
        </p:txBody>
      </p:sp>
      <p:sp>
        <p:nvSpPr>
          <p:cNvPr id="9" name="Shape 4"/>
          <p:cNvSpPr/>
          <p:nvPr/>
        </p:nvSpPr>
        <p:spPr>
          <a:xfrm>
            <a:off x="1115568" y="2423160"/>
            <a:ext cx="91440" cy="91440"/>
          </a:xfrm>
          <a:prstGeom prst="ellipse">
            <a:avLst/>
          </a:prstGeom>
          <a:solidFill>
            <a:srgbClr val="C0743E"/>
          </a:solidFill>
          <a:ln w="12700">
            <a:solidFill>
              <a:srgbClr val="C0743E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1316736" y="23317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22302A"/>
                </a:solidFill>
              </a:rPr>
              <a:t>1. Abrir el sitio desplegado en GitHub Pages.</a:t>
            </a:r>
            <a:endParaRPr lang="en-US" sz="1240" dirty="0"/>
          </a:p>
        </p:txBody>
      </p:sp>
      <p:sp>
        <p:nvSpPr>
          <p:cNvPr id="11" name="Shape 6"/>
          <p:cNvSpPr/>
          <p:nvPr/>
        </p:nvSpPr>
        <p:spPr>
          <a:xfrm>
            <a:off x="1115568" y="2852928"/>
            <a:ext cx="91440" cy="91440"/>
          </a:xfrm>
          <a:prstGeom prst="ellipse">
            <a:avLst/>
          </a:prstGeom>
          <a:solidFill>
            <a:srgbClr val="C0743E"/>
          </a:solidFill>
          <a:ln w="12700">
            <a:solidFill>
              <a:srgbClr val="C0743E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1316736" y="276148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22302A"/>
                </a:solidFill>
              </a:rPr>
              <a:t>2. Mostrar Home: marca, banner y destacados.</a:t>
            </a:r>
            <a:endParaRPr lang="en-US" sz="1240" dirty="0"/>
          </a:p>
        </p:txBody>
      </p:sp>
      <p:sp>
        <p:nvSpPr>
          <p:cNvPr id="13" name="Shape 8"/>
          <p:cNvSpPr/>
          <p:nvPr/>
        </p:nvSpPr>
        <p:spPr>
          <a:xfrm>
            <a:off x="1115568" y="3282696"/>
            <a:ext cx="91440" cy="91440"/>
          </a:xfrm>
          <a:prstGeom prst="ellipse">
            <a:avLst/>
          </a:prstGeom>
          <a:solidFill>
            <a:srgbClr val="C0743E"/>
          </a:solidFill>
          <a:ln w="12700">
            <a:solidFill>
              <a:srgbClr val="C0743E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1316736" y="319125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22302A"/>
                </a:solidFill>
              </a:rPr>
              <a:t>3. Ir al catálogo: buscar, filtrar y abrir detalle.</a:t>
            </a:r>
            <a:endParaRPr lang="en-US" sz="1240" dirty="0"/>
          </a:p>
        </p:txBody>
      </p:sp>
      <p:sp>
        <p:nvSpPr>
          <p:cNvPr id="15" name="Shape 10"/>
          <p:cNvSpPr/>
          <p:nvPr/>
        </p:nvSpPr>
        <p:spPr>
          <a:xfrm>
            <a:off x="1115568" y="3712464"/>
            <a:ext cx="91440" cy="91440"/>
          </a:xfrm>
          <a:prstGeom prst="ellipse">
            <a:avLst/>
          </a:prstGeom>
          <a:solidFill>
            <a:srgbClr val="C0743E"/>
          </a:solidFill>
          <a:ln w="12700">
            <a:solidFill>
              <a:srgbClr val="C0743E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1316736" y="362102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22302A"/>
                </a:solidFill>
              </a:rPr>
              <a:t>4. Agregar productos y revisar el contador.</a:t>
            </a:r>
            <a:endParaRPr lang="en-US" sz="1240" dirty="0"/>
          </a:p>
        </p:txBody>
      </p:sp>
      <p:sp>
        <p:nvSpPr>
          <p:cNvPr id="17" name="Shape 12"/>
          <p:cNvSpPr/>
          <p:nvPr/>
        </p:nvSpPr>
        <p:spPr>
          <a:xfrm>
            <a:off x="1115568" y="4142232"/>
            <a:ext cx="91440" cy="91440"/>
          </a:xfrm>
          <a:prstGeom prst="ellipse">
            <a:avLst/>
          </a:prstGeom>
          <a:solidFill>
            <a:srgbClr val="C0743E"/>
          </a:solidFill>
          <a:ln w="12700">
            <a:solidFill>
              <a:srgbClr val="C0743E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1316736" y="405079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22302A"/>
                </a:solidFill>
              </a:rPr>
              <a:t>5. Entrar al carrito: sumar, restar, eliminar y recargar.</a:t>
            </a:r>
            <a:endParaRPr lang="en-US" sz="1240" dirty="0"/>
          </a:p>
        </p:txBody>
      </p:sp>
      <p:sp>
        <p:nvSpPr>
          <p:cNvPr id="19" name="Shape 14"/>
          <p:cNvSpPr/>
          <p:nvPr/>
        </p:nvSpPr>
        <p:spPr>
          <a:xfrm>
            <a:off x="1115568" y="4572000"/>
            <a:ext cx="91440" cy="91440"/>
          </a:xfrm>
          <a:prstGeom prst="ellipse">
            <a:avLst/>
          </a:prstGeom>
          <a:solidFill>
            <a:srgbClr val="C0743E"/>
          </a:solidFill>
          <a:ln w="12700">
            <a:solidFill>
              <a:srgbClr val="C0743E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1316736" y="44805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22302A"/>
                </a:solidFill>
              </a:rPr>
              <a:t>6. Ir al formulario: forzar error y luego enviar correctamente.</a:t>
            </a:r>
            <a:endParaRPr lang="en-US" sz="1240" dirty="0"/>
          </a:p>
        </p:txBody>
      </p:sp>
      <p:sp>
        <p:nvSpPr>
          <p:cNvPr id="21" name="Shape 16"/>
          <p:cNvSpPr/>
          <p:nvPr/>
        </p:nvSpPr>
        <p:spPr>
          <a:xfrm>
            <a:off x="6766560" y="1417320"/>
            <a:ext cx="3520440" cy="4709160"/>
          </a:xfrm>
          <a:prstGeom prst="roundRect">
            <a:avLst>
              <a:gd name="adj" fmla="val 2078"/>
            </a:avLst>
          </a:prstGeom>
          <a:solidFill>
            <a:srgbClr val="E7F2EA"/>
          </a:solidFill>
          <a:ln w="12700">
            <a:solidFill>
              <a:srgbClr val="E7F2EA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7086600" y="17373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5A38"/>
                </a:solidFill>
              </a:rPr>
              <a:t>Preguntas probables</a:t>
            </a:r>
            <a:endParaRPr lang="en-US" sz="2000" dirty="0"/>
          </a:p>
        </p:txBody>
      </p:sp>
      <p:sp>
        <p:nvSpPr>
          <p:cNvPr id="23" name="Text 18"/>
          <p:cNvSpPr/>
          <p:nvPr/>
        </p:nvSpPr>
        <p:spPr>
          <a:xfrm>
            <a:off x="7086600" y="23317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F5A38"/>
                </a:solidFill>
              </a:rPr>
              <a:t>¿Por qué JS puro?</a:t>
            </a:r>
            <a:endParaRPr lang="en-US" sz="1220" dirty="0"/>
          </a:p>
        </p:txBody>
      </p:sp>
      <p:sp>
        <p:nvSpPr>
          <p:cNvPr id="24" name="Text 19"/>
          <p:cNvSpPr/>
          <p:nvPr/>
        </p:nvSpPr>
        <p:spPr>
          <a:xfrm>
            <a:off x="7086600" y="25603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2302A"/>
                </a:solidFill>
              </a:rPr>
              <a:t>Porque la consigna prohíbe frameworks.</a:t>
            </a:r>
            <a:endParaRPr lang="en-US" sz="1140" dirty="0"/>
          </a:p>
        </p:txBody>
      </p:sp>
      <p:sp>
        <p:nvSpPr>
          <p:cNvPr id="25" name="Text 20"/>
          <p:cNvSpPr/>
          <p:nvPr/>
        </p:nvSpPr>
        <p:spPr>
          <a:xfrm>
            <a:off x="7086600" y="317296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F5A38"/>
                </a:solidFill>
              </a:rPr>
              <a:t>¿Dónde están los productos?</a:t>
            </a:r>
            <a:endParaRPr lang="en-US" sz="1220" dirty="0"/>
          </a:p>
        </p:txBody>
      </p:sp>
      <p:sp>
        <p:nvSpPr>
          <p:cNvPr id="26" name="Text 21"/>
          <p:cNvSpPr/>
          <p:nvPr/>
        </p:nvSpPr>
        <p:spPr>
          <a:xfrm>
            <a:off x="7086600" y="340156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2302A"/>
                </a:solidFill>
              </a:rPr>
              <a:t>En productos.js como array de objetos.</a:t>
            </a:r>
            <a:endParaRPr lang="en-US" sz="1140" dirty="0"/>
          </a:p>
        </p:txBody>
      </p:sp>
      <p:sp>
        <p:nvSpPr>
          <p:cNvPr id="27" name="Text 22"/>
          <p:cNvSpPr/>
          <p:nvPr/>
        </p:nvSpPr>
        <p:spPr>
          <a:xfrm>
            <a:off x="7086600" y="401421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F5A38"/>
                </a:solidFill>
              </a:rPr>
              <a:t>¿Cómo persiste el carrito?</a:t>
            </a:r>
            <a:endParaRPr lang="en-US" sz="1220" dirty="0"/>
          </a:p>
        </p:txBody>
      </p:sp>
      <p:sp>
        <p:nvSpPr>
          <p:cNvPr id="28" name="Text 23"/>
          <p:cNvSpPr/>
          <p:nvPr/>
        </p:nvSpPr>
        <p:spPr>
          <a:xfrm>
            <a:off x="7086600" y="424281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2302A"/>
                </a:solidFill>
              </a:rPr>
              <a:t>Con localStorage.</a:t>
            </a:r>
            <a:endParaRPr lang="en-US" sz="1140" dirty="0"/>
          </a:p>
        </p:txBody>
      </p:sp>
      <p:sp>
        <p:nvSpPr>
          <p:cNvPr id="29" name="Text 24"/>
          <p:cNvSpPr/>
          <p:nvPr/>
        </p:nvSpPr>
        <p:spPr>
          <a:xfrm>
            <a:off x="548640" y="6446520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6B62"/>
                </a:solidFill>
              </a:rPr>
              <a:t>Raíz Verde · Diseño Web C2 · Primer avance 30%</a:t>
            </a:r>
            <a:endParaRPr lang="en-US" sz="850" dirty="0"/>
          </a:p>
        </p:txBody>
      </p:sp>
      <p:sp>
        <p:nvSpPr>
          <p:cNvPr id="30" name="Text 25"/>
          <p:cNvSpPr/>
          <p:nvPr/>
        </p:nvSpPr>
        <p:spPr>
          <a:xfrm>
            <a:off x="11155680" y="638251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F5A38"/>
                </a:solidFill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Universidad Continental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Raíz Verde · C2 Diseño Web</dc:title>
  <dc:subject>Presentación del proyecto Raíz Verde para 3 integrantes</dc:subject>
  <dc:creator>ChatGPT</dc:creator>
  <cp:lastModifiedBy>ChatGPT</cp:lastModifiedBy>
  <cp:revision>1</cp:revision>
  <dcterms:created xsi:type="dcterms:W3CDTF">2026-05-30T15:15:36Z</dcterms:created>
  <dcterms:modified xsi:type="dcterms:W3CDTF">2026-05-30T15:15:36Z</dcterms:modified>
</cp:coreProperties>
</file>